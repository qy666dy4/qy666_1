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大家好，欢迎参加本次分享。今天我们将一起学习如何使用Java来调用强大的大模型API，内容会非常实用，希望能帮助大家快速上手。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分享主要分为五个部分。首先，我们会聊聊为什么要做这件事，以及能用到哪些地方。接着，我们会看看需要准备哪些工具。然后，我会一步步教大家怎么调用API。之后，我们会看一个完整的代码例子。最后，还会介绍两个进阶的玩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谈谈为什么要用Java调用大模型。简单来说有三点：第一，对我们Java开发者非常友好，不用学新东西就能上手。第二，能让我们的系统变得更强大、更稳定。第三，也是最重要的，能让我们的应用拥有对话、写作、分析等强大的AI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具体能用到哪些地方呢？这里列举了三个常见的场景。比如，我们可以做一个7x24小时在线的智能客服；或者让AI帮我们写文案、写报告，提高效率；甚至还能在我们编程的时候，提供代码补全、找Bug的功能，就像一个智能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除了刚才提到的，还有一些更专业的应用。比如，用AI来分析用户评论、调研问卷，发现潜在的趋势；在金融领域，用它来做风控和合规审核；还可以为公司内部搭建一个智能问答系统，方便员工查找资料。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接下来我们进入实操部分。首先要准备好我们的工具。很简单，就是我们日常开发用的那套东西：Java 8以上的环境，Maven或Gradle来管理依赖，以及一个顺手的IDE，比如IntelliJ IDEA。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在代码层面，我们需要三个核心的依赖。第一个是OkHttp，用来发送网络请求。第二个是JSON解析库，用来处理API返回的数据。第三个是官方SDK，这是厂商提供的工具包，能让我们的调用代码更简单、更安全。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准备工作的最后一步，也是最关键的一步，就是获取你的API Key。你需要去大模型厂商的平台注册并创建。这个Key就像你的密码，一定要保管好。最安全的做法是把它设置为环境变量，千万不要直接写在代码里，以免泄露。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现在我们来看具体怎么调用。第一步是准备请求。这就像我们寄信一样，需要知道对方的地址，也就是API的URL；然后要写好信的内容，也就是JSON格式的请求参数；最后，把这些信息封装成一个请求对象。别忘了，最重要的是在请求头里加上你的API Key，证明你的身份。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请求准备好后，第二步就是发送请求。我们用OkHttpClient来执行这个请求。这里用的是同步调用，意思就是代码会在这里停下来，等待服务器返回结果，然后再继续往下执行。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服务器返回结果后，我们需要解析它。这里有两种方式。第一种是直接解析JSON字符串，比较简单，适合快速实现。第二种是把JSON映射成一个Java对象，也就是POJO，这样代码结构更清晰，也更易于维护，是我们推荐的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讲完了，我们来看一个完整的代码示例。大家可以看到，这段代码把我们刚才讲的准备请求、发送请求和解析结果的全过程都包含了。大家可以跟着我一起看一下，从创建客户端，到构建请求，再到处理响应，每一步都很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在运行这段代码之前，有两件事一定要确认。第一，你的项目里已经添加了OkHttp和Fastjson的依赖。第二，你的系统环境变量里已经正确设置了你的API Key。这两步都做好了，代码才能顺利运行。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看两个进阶玩法。第一个是实时显示回答。默认情况下，我们要等AI把所有内容都生成完才能看到结果。但通过流式响应，我们可以让AI的回答像打字一样实时显示出来，用户体验会好很多。实现方法也很简单，就是在请求里加一个stream: true的参数。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进阶玩法，也是我非常推荐的，就是使用官方SDK。相比于我们自己写HTTP请求和解析JSON，SDK把这些复杂的工作都封装好了。我们只需要调用几个简单的方法，就能完成API调用，代码更简洁，也更不容易出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我的分享到这里就结束了。非常感谢大家的聆听。现在是问答环节，如果大家对今天的内容有任何疑问，或者想交流一下想法，都欢迎提出来。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55000"/>
                </a:srgbClr>
              </a:gs>
              <a:gs pos="100000">
                <a:srgbClr val="000000">
                  <a:alpha val="3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Java调用大模型API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937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从入门到进阶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41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18796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为什么用？能用在哪？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603500"/>
            <a:ext cx="3238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赋能企业级应用开发，深入探索大模型API在实际业务中的典型落地场景，理解其技术价值与对业务效率的提升潜力。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1841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461000" y="18796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准备什么？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2603500"/>
            <a:ext cx="3238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梳理项目所需的必备开发工具，配置核心Java依赖库环境，并详细讲解API Key的申请流程、获取方式与安全管理规范。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505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5052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18500" y="1841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144000" y="18796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怎么调用？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2603500"/>
            <a:ext cx="3238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从构建标准HTTP请求体开始，逐步解析请求参数的配置规则，以及如何正确发送请求并高效处理服务端返回的JSON响应。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000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0005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" y="4127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841500" y="41656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代码怎么写？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4826000"/>
            <a:ext cx="488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从零到一编写可直接运行的Java程序，通过实际可执行代码演示API调用的完整流程。涵盖核心逻辑实现、异常处理机制与基础调试方法，帮助开发者快速上手并复现调用过程。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40005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3000" y="40005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13500" y="4127500"/>
            <a:ext cx="76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302500" y="41656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还能怎么玩？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13500" y="4826000"/>
            <a:ext cx="488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突破基础同步调用模式，学习处理大模型特有的流式响应数据，实现更流畅的交互体验。同时掌握官方Java SDK的集成方法，利用封装好的工具提升开发效率与系统的稳定性。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为什么要用Java调用大模型？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ava作为一门成熟、稳定、安全的企业级编程语言，在金融、电商、政务、教育等领域拥有深厚的应用基础。将强大的大语言模型（LLM）能力通过API无缝集成到Java应用中，能够为传统业务系统注入强大的AI驱动力，实现业务流程的智能化升级。这不仅是技术的融合，更是企业数字化转型中提升核心竞争力、优化服务体验的关键路径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3467100" cy="2413000"/>
          </a:xfrm>
          <a:prstGeom prst="roundRect">
            <a:avLst>
              <a:gd name="adj" fmla="val 0"/>
            </a:avLst>
          </a:prstGeom>
          <a:solidFill>
            <a:srgbClr val="ECFCF1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492500"/>
            <a:ext cx="30861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对开发者友好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4064000"/>
            <a:ext cx="30861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不用学新技术，直接用Java。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3302000"/>
            <a:ext cx="3467100" cy="2413000"/>
          </a:xfrm>
          <a:prstGeom prst="roundRect">
            <a:avLst>
              <a:gd name="adj" fmla="val 0"/>
            </a:avLst>
          </a:prstGeom>
          <a:solidFill>
            <a:srgbClr val="ECFCF1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3302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84700" y="3492500"/>
            <a:ext cx="30861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系统更强大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84700" y="4064000"/>
            <a:ext cx="30861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结合Java生态，打造稳定可靠的AI应用。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3302000"/>
            <a:ext cx="3467100" cy="2413000"/>
          </a:xfrm>
          <a:prstGeom prst="roundRect">
            <a:avLst>
              <a:gd name="adj" fmla="val 0"/>
            </a:avLst>
          </a:prstGeom>
          <a:solidFill>
            <a:srgbClr val="ECFCF1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26400" y="3302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16900" y="3492500"/>
            <a:ext cx="30861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应用更智能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16900" y="4064000"/>
            <a:ext cx="30861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让你的应用拥有对话、写作、分析等AI能力。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应用场景与意义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92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21082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2057400"/>
            <a:ext cx="228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智能客服与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聊天机器人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2984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打造7x24小时在线客服，自动回答用户问题。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762500"/>
            <a:ext cx="29845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4864100"/>
            <a:ext cx="273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2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从被动响应转向主动服务，让企业服务能力实现质的飞跃，打破时间与人力的双重限制。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778000"/>
            <a:ext cx="3492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778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20320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75200" y="21082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461000" y="2057400"/>
            <a:ext cx="228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内容生成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3302000"/>
            <a:ext cx="2984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自动写文案、写报告、写代码注释，提高效率。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99000" y="4762500"/>
            <a:ext cx="29845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826000" y="4864100"/>
            <a:ext cx="273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2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以技术提效内容生产，从根本上解决内容供给不足、制作耗时久的问题，实现降本增效。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1778000"/>
            <a:ext cx="3492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1778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20320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58200" y="2108200"/>
            <a:ext cx="457200" cy="457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144000" y="2057400"/>
            <a:ext cx="228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代码助手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82000" y="3302000"/>
            <a:ext cx="2984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在编程时提供代码补全、找Bug、写测试，提升编码效率。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0" y="4762500"/>
            <a:ext cx="29845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509000" y="4864100"/>
            <a:ext cx="2730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2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重构开发工作流，让技术人员将精力投入到架构设计与复杂业务逻辑中，加速产品研发进程。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应用场景与意义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0955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28700" y="21717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14500" y="2108200"/>
            <a:ext cx="2413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数据分析与洞察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147" flipH="false" flipV="false">
            <a:off x="952513" y="29146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952500" y="3111500"/>
            <a:ext cx="30861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分析用户评论、问卷等文本，发现潜在趋势。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83100" y="1778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83100" y="177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73600" y="20955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171700"/>
            <a:ext cx="457200" cy="457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435600" y="2108200"/>
            <a:ext cx="2413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金融风控与合规审核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147" flipH="false" flipV="false">
            <a:off x="4673613" y="29146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673600" y="3111500"/>
            <a:ext cx="30861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自动检查金融内容，识别欺诈和不合规风险。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04200" y="1778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04200" y="1778000"/>
            <a:ext cx="34671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94700" y="2095500"/>
            <a:ext cx="609600" cy="6096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70900" y="2171700"/>
            <a:ext cx="457200" cy="457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156700" y="2108200"/>
            <a:ext cx="2413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企业知识库问答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147" flipH="false" flipV="false">
            <a:off x="8394713" y="29146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394700" y="3111500"/>
            <a:ext cx="30861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快速查找公司内部文档，实现智能问答。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准备工作：工具和环境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095500"/>
            <a:ext cx="609600" cy="6096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28700" y="21717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14500" y="2095500"/>
            <a:ext cx="228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核心运行环境 (JDK)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048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79500" y="31115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推荐版本：Java 8 及以上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191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需要安装Java 8或更高版本。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1778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rcRect l="8333" r="8333" t="0" b="0"/>
          <a:stretch>
            <a:fillRect/>
          </a:stretch>
        </p:blipFill>
        <p:spPr>
          <a:xfrm rot="0" flipH="false" flipV="false">
            <a:off x="4508500" y="20955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5270500" y="2095500"/>
            <a:ext cx="234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项目构建工具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3048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31115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Maven 或 Gradle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4191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使用Maven或Gradle来管理项目依赖。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1778000"/>
            <a:ext cx="3429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01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8128000" y="2095500"/>
            <a:ext cx="635000" cy="63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8890000" y="2095500"/>
            <a:ext cx="234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集成开发环境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91500" y="3048000"/>
            <a:ext cx="3048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18500" y="3111500"/>
            <a:ext cx="279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IntelliJ IDEA / Eclipse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91500" y="4191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推荐使用IntelliJ IDEA或Eclipse来写代码。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准备工作：核心依赖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41500"/>
            <a:ext cx="3111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高效 HTTP 客户端：OkHttp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413000"/>
            <a:ext cx="311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用来发送网络请求的工具。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556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3657600"/>
            <a:ext cx="2857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>&lt;dependency&gt;</a:t>
            </a: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>&lt;groupId&gt;com.squareup.okhttp3&lt;/groupId&gt;</a:t>
            </a: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>&lt;artifactId&gt;okhttp&lt;/artifactId&gt;</a:t>
            </a: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>&lt;version&gt;4.12.0&lt;/version&gt;</a:t>
            </a: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Menlo"/>
                <a:ea typeface="Menlo"/>
                <a:cs typeface="Menlo"/>
                <a:sym typeface="Menlo"/>
              </a:rPr>
              <a:t>&lt;/dependency&gt;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704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70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60900" y="1841500"/>
            <a:ext cx="3111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数据交互：JSON 解析库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2413000"/>
            <a:ext cx="311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用来处理API返回的JSON数据。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60900" y="3556000"/>
            <a:ext cx="14986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24400" y="36195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Gson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B556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Google 经典解析库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73800" y="3556000"/>
            <a:ext cx="14986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37300" y="36195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Jackson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4B556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Spring 默认内置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60900" y="4508500"/>
            <a:ext cx="3111500" cy="1270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87900" y="4572000"/>
            <a:ext cx="2857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推荐关注</a:t>
            </a:r>
            <a:r>
              <a:rPr lang="en-US" b="true" i="false" strike="noStrike" u="none" sz="1200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Alibaba Fastjson2</a:t>
            </a:r>
            <a:r>
              <a:rPr lang="en-US" b="false" i="false" strike="noStrike" u="none" sz="1200">
                <a:solidFill>
                  <a:srgbClr val="37415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，专为云原生设计，在国产技术栈下拥有更出色的兼容性、速度表现与定制化支持。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788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788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69300" y="1841500"/>
            <a:ext cx="3111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厂商赋能：官方 SDK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69300" y="2413000"/>
            <a:ext cx="3111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厂商提供的工具包，让调用更简单。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69300" y="3556000"/>
            <a:ext cx="3111500" cy="1079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470900" y="36195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智谱 AI Java SDK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470900" y="3975100"/>
            <a:ext cx="2857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>
                    <a:alpha val="80000"/>
                  </a:srgbClr>
                </a:solidFill>
                <a:latin typeface="Menlo"/>
                <a:ea typeface="Menlo"/>
                <a:cs typeface="Menlo"/>
                <a:sym typeface="Menlo"/>
              </a:rPr>
              <a:t>ai.z.openapi:zai-sdk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4B556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轻量级封装，快速对接大模型能力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69300" y="4699000"/>
            <a:ext cx="3111500" cy="1079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470900" y="4762500"/>
            <a:ext cx="285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阿里云 DashScope SDK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470900" y="5118100"/>
            <a:ext cx="2857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>
                    <a:alpha val="80000"/>
                  </a:srgbClr>
                </a:solidFill>
                <a:latin typeface="Menlo"/>
                <a:ea typeface="Menlo"/>
                <a:cs typeface="Menlo"/>
                <a:sym typeface="Menlo"/>
              </a:rPr>
              <a:t>com.alibaba:dashscope-sdk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4B556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集成通义千问系列模型的开发套件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准备工作：获取API Key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API Key 是调用大模型 API 的核心凭证。开始开发前，需完成获取与安全配置，保障调用安全。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492500" cy="2159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476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4511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注册并实名认证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9845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访问大模型服务商开放平台，完成账号注册与实名认证，这是获取 API 调用权限的必要前提。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70400" y="2286000"/>
            <a:ext cx="3492500" cy="2159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70400" y="2286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476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05400" y="24511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生成专属 API Key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60900" y="29845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登录开发者后台，进入“API Key 管理”板块，创建应用并生成专属 API Key，用于后续接口调用。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2286000"/>
            <a:ext cx="3492500" cy="2159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91500" y="2286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476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763000" y="24511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安全存储（不要写在代码里！）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29845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API Key 是核心凭证，泄露会导致安全风险。务必遵守安全规范，切勿在代码、日志中直接暴露。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635500"/>
            <a:ext cx="10922000" cy="1714500"/>
          </a:xfrm>
          <a:prstGeom prst="roundRect">
            <a:avLst>
              <a:gd name="adj" fmla="val 0"/>
            </a:avLst>
          </a:prstGeom>
          <a:solidFill>
            <a:srgbClr val="DCFCE7">
              <a:alpha val="85000"/>
            </a:srgbClr>
          </a:solidFill>
          <a:ln w="12700" cmpd="sng" cap="flat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635500"/>
            <a:ext cx="76200" cy="1714500"/>
          </a:xfrm>
          <a:prstGeom prst="roundRect">
            <a:avLst>
              <a:gd name="adj" fmla="val 0"/>
            </a:avLst>
          </a:prstGeom>
          <a:solidFill>
            <a:srgbClr val="EA580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4762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核心原则：严禁硬编码密钥！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5270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31407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硬编码极易导致密钥泄露，引发资源盗用。应将密钥与代码解耦，通过环境变量注入使用。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5368748" flipH="false" flipV="false">
            <a:off x="5461000" y="5454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223000" y="4635500"/>
            <a:ext cx="762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4762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推荐方案：使用环境变量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5270500"/>
            <a:ext cx="2349500" cy="889000"/>
          </a:xfrm>
          <a:prstGeom prst="roundRect">
            <a:avLst>
              <a:gd name="adj" fmla="val 0"/>
            </a:avLst>
          </a:prstGeom>
          <a:solidFill>
            <a:srgbClr val="1F2937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40500" y="5334000"/>
            <a:ext cx="2222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Linux / macOS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40500" y="56134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export ZAI_API_KEY="sk-xxx"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017000" y="5270500"/>
            <a:ext cx="2413000" cy="889000"/>
          </a:xfrm>
          <a:prstGeom prst="roundRect">
            <a:avLst>
              <a:gd name="adj" fmla="val 0"/>
            </a:avLst>
          </a:prstGeom>
          <a:solidFill>
            <a:srgbClr val="1E3A8A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080500" y="53340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环境变量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080500" y="56134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变量名: ZAI_API_KEY</a:t>
            </a:r>
            <a:r>
              <a:rPr lang="en-US" b="false" i="false" strike="noStrike" u="none" sz="10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值: 你的密钥字符串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调用步骤：准备请求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9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415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51000" y="18796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确定API地址 (URL)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540000"/>
            <a:ext cx="3111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首先需要确定目标大模型的服务接口地址，这是客户端与云端模型建立通信的唯一网络路径。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556000"/>
            <a:ext cx="31115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36195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open.bigmodel.cn/api/paas/v4/chat/completions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651000"/>
            <a:ext cx="349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18415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18796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准备请求内容 (JSON格式)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35500" y="2540000"/>
            <a:ext cx="3111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通过JSON格式定义交互核心信息，包括指定模型版本、用户的具体提问内容以及生成响应的随机度参数。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35500" y="3556000"/>
            <a:ext cx="3111500" cy="1016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400" y="36195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"model": "glm-4",</a:t>
            </a: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"messages": [{ "role": "user", "content": "你好，请介绍一下你自己" }],</a:t>
            </a: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"temperature": 0.7</a:t>
            </a: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651000"/>
            <a:ext cx="3492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18500" y="18415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017000" y="18796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创建请求对象 (Request)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18500" y="2540000"/>
            <a:ext cx="3111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利用OkHttp客户端封装HTTP请求，核心是在Header中加入Bearer Token完成身份验证，确保调用安全。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18500" y="3556000"/>
            <a:ext cx="3111500" cy="1016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407400" y="36195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Request request = new Request.Builder()</a:t>
            </a: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.url(apiUrl).post(body)</a:t>
            </a: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.addHeader("Authorization", "Bearer " + key)</a:t>
            </a: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10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.addHeader("Content-Type", "application/json").build();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953000"/>
            <a:ext cx="10858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953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207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核心提示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16000" y="56515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别忘了在请求头里加上你的API Key！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详细步骤说明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3020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330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调用步骤：发送请求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225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使用OkHttpClient发送请求，等待服务器返回结果。这是一个同步调用，会阻塞当前线程。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10668000" cy="1714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276600"/>
            <a:ext cx="1028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OkHttpClient client = new OkHttpClient();</a:t>
            </a: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try (Response response = client.newCall(request).execute()) {</a:t>
            </a: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if (!response.isSuccessful()) throw new IOException("Unexpected code: " + response);</a:t>
            </a: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String body = response.body().string(); // 读取响应体</a:t>
            </a: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System.out.println("Server Response: " + body);</a:t>
            </a: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} catch (IOException e) { e.printStackTrace(); }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080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2324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5232400"/>
            <a:ext cx="952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关键特性：同步阻塞机制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5588000"/>
            <a:ext cx="9842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示例中使用的 `execute()` 方法是同步执行模式，会阻塞当前调用线程直到收到服务器响应或超时。在实际开发中，为了保证应用的流畅性，切勿在 UI 主线程中直接执行此方法，建议配合后台线程或使用异步的 `enqueue()` 回调方式。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调用步骤：解析结果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41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方式一：直接解析JSON字符串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476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直接解析JSON字符串，适合简单场景。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556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F0F9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3683000"/>
            <a:ext cx="457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JSONObject jsonResponse = JSONObject.parseObject(responseBody);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String content = jsonResponse.getJSONArray("choices")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.getJSONObject(0)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.getJSONObject("message")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.getString("content");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1841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方式二：映射到Java对象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2476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映射到Java对象，代码更清晰，推荐使用。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3556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F0F9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3683000"/>
            <a:ext cx="457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ObjectMapper objectMapper = new ObjectMapper();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ChatCompletionResponse resp = objectMapper.readValue(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responseBody, ChatCompletionResponse.class);</a:t>
            </a: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String content = resp.getChoices().get(0).getMessage().getContent();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完整Java代码示例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这是一个完整的调用示例，包含了准备请求、发送请求和解析结果的全过程。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4318000"/>
          </a:xfrm>
          <a:prstGeom prst="roundRect">
            <a:avLst>
              <a:gd name="adj" fmla="val 0"/>
            </a:avLst>
          </a:prstGeom>
          <a:solidFill>
            <a:srgbClr val="181C23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10160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import com.alibaba.fastjson2.JSON; import com.alibaba.fastjson2.JSONObject; import okhttp3.*; importjava.io.IOException;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LLMAPICaller {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// 配置API端点与密钥（从环境变量读取以保障安全）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private static final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String API_URL =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"https://open.bigmodel.cn/api/paas/v4/chat/completions"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private static final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String API_KEY = System.getenv(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"ZAI_API_KEY"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public static void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main(String[] args) {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// 1. 初始化客户端与请求载荷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OkHttpClient client =</a:t>
            </a:r>
            <a:r>
              <a:rPr lang="en-US" b="true" i="false" strike="noStrike" u="none" sz="12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OkHttpClient(); String jsonBody =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"{\"model\":\"glm-4\",\"messages\":[{\"role\":\"user\",\"content\":\"你好，请介绍一下你自己\"}]}"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// 2. 构建POST请求并设置鉴权头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Request request =</a:t>
            </a:r>
            <a:r>
              <a:rPr lang="en-US" b="true" i="false" strike="noStrike" u="none" sz="12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Request.Builder().url(API_URL).post(RequestBody.create(jsonBody, MediaType.get(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"application/json; charset=utf-8"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))).addHeader(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"Authorization"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"Bearer 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+ API_KEY).build();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// 3. 执行请求并解析JSON响应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(Response response = client.newCall(request).execute()) {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JSONObject res = JSON.parseObject(response.body().string());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"AI: 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+ res.getJSONArray(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"choices"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).getJSONObject(0).getJSONObject(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"message"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).getString(</a:t>
            </a:r>
            <a:r>
              <a:rPr lang="en-US" b="false" i="false" strike="noStrike" u="none" sz="12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true" i="false" strike="noStrike" u="none" sz="1200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(IOException e) { e.printStackTrace(); } } 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运行代码前的准备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050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添加项目依赖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413000"/>
            <a:ext cx="488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1. 在项目中添加OkHttp和Fastjson的依赖。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238500"/>
            <a:ext cx="48895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3302000"/>
            <a:ext cx="4635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&lt;dependency&gt;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&lt;groupId&gt;com.squareup.okhttp3&lt;/groupId&gt;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&lt;artifactId&gt;okhttp&lt;/artifactId&gt;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&lt;version&gt;4.12.0&lt;/version&gt;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&lt;/dependency&gt;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&lt;dependency&gt;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&lt;groupId&gt;com.alibaba.fastjson2&lt;/groupId&gt;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&lt;artifactId&gt;fastjson2&lt;/artifactId&gt;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&lt;version&gt;2.0.48&lt;/version&gt;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&lt;/dependency&gt;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953000"/>
            <a:ext cx="48895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79500" y="5016500"/>
            <a:ext cx="463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版本提示：依赖版本号请根据实际项目的兼容性进行选择，建议使用最新的稳定版，避免因版本冲突导致程序运行异常。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89889" flipH="false" flipV="false">
            <a:off x="4000500" y="3803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3500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19050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配置环境变量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40500" y="2413000"/>
            <a:ext cx="4889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2. 在系统环境变量中设置好你的API Key。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40500" y="3238500"/>
            <a:ext cx="2387600" cy="1587500"/>
          </a:xfrm>
          <a:prstGeom prst="roundRect">
            <a:avLst>
              <a:gd name="adj" fmla="val 0"/>
            </a:avLst>
          </a:prstGeom>
          <a:solidFill>
            <a:srgbClr val="DCFCE7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67500" y="3302000"/>
            <a:ext cx="213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Linux / macOS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67500" y="3683000"/>
            <a:ext cx="21336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终端执行命令配置：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export ZAI_API_KEY="your_api_key"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配置后需重启终端生效。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55100" y="3238500"/>
            <a:ext cx="2387600" cy="1587500"/>
          </a:xfrm>
          <a:prstGeom prst="roundRect">
            <a:avLst>
              <a:gd name="adj" fmla="val 0"/>
            </a:avLst>
          </a:prstGeom>
          <a:solidFill>
            <a:srgbClr val="DBEAFE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182100" y="3302000"/>
            <a:ext cx="2133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系统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82100" y="3683000"/>
            <a:ext cx="21336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图形化界面操作：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系统属性 → 高级 → 环境变量 → 新建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变量名填入 ZAI_API_KEY。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40500" y="4953000"/>
            <a:ext cx="4889500" cy="889000"/>
          </a:xfrm>
          <a:prstGeom prst="roundRect">
            <a:avLst>
              <a:gd name="adj" fmla="val 0"/>
            </a:avLst>
          </a:prstGeom>
          <a:solidFill>
            <a:srgbClr val="FEF3C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67500" y="5016500"/>
            <a:ext cx="463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🔒 安全警示：请妥善保管你的 API Key，严禁在公共代码仓库、日志文件或客户端代码中直接暴露该敏感信息。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进阶内容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进阶玩法：实时显示回答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流式响应可以让AI的回答像打字一样实时显示，而不是等待全部生成完。实现方法是在请求中设置 stream: true。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810000"/>
            <a:ext cx="10668000" cy="2667000"/>
          </a:xfrm>
          <a:prstGeom prst="roundRect">
            <a:avLst>
              <a:gd name="adj" fmla="val 0"/>
            </a:avLst>
          </a:prstGeom>
          <a:solidFill>
            <a:srgbClr val="1E1E1E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810000"/>
            <a:ext cx="76200" cy="266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937000"/>
            <a:ext cx="2794000" cy="355600"/>
          </a:xfrm>
          <a:prstGeom prst="roundRect">
            <a:avLst>
              <a:gd name="adj" fmla="val 0"/>
            </a:avLst>
          </a:prstGeom>
          <a:solidFill>
            <a:srgbClr val="22C55E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624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Kotlin / OkHttp 实现片段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445000"/>
            <a:ext cx="10287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client.newCall(request).enqueue(object : Callback {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override fun onResponse(call: Call, response: Response) {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response.body?.source()?.use { source -&gt;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while (!source.exhausted()) {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val line = source.readUtf8Line()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if (line?.startsWith("data: ") == true &amp;&amp; line != "data: [DONE]") {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print(parseContent(line.substring(6))) // 实时处理单行数据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进阶内容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875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ECFCF1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875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145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进阶玩法：使用官方SDK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1016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使用厂商提供的SDK是更简单、更安全的方式。它封装了复杂的细节，让你用几行代码就能完成调用。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10668000" cy="2857500"/>
          </a:xfrm>
          <a:prstGeom prst="roundRect">
            <a:avLst>
              <a:gd name="adj" fmla="val 0"/>
            </a:avLst>
          </a:prstGeom>
          <a:solidFill>
            <a:srgbClr val="1F2937">
              <a:alpha val="9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327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CODE EXAMPLE · 智谱 AI Java SDK 快速调用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37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937000"/>
            <a:ext cx="444500" cy="2095500"/>
          </a:xfrm>
          <a:prstGeom prst="roundRect">
            <a:avLst>
              <a:gd name="adj" fmla="val 0"/>
            </a:avLst>
          </a:prstGeom>
          <a:solidFill>
            <a:srgbClr val="37415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00500"/>
            <a:ext cx="444500" cy="196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9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397000" y="4000500"/>
            <a:ext cx="4445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1. 初始化客户端，配置鉴权信息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ZhipuAiClient client = ZhipuAiClient.builder().ofZHIPU()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.apiKey(System.getenv("ZAI_API_KEY"))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.build();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2. 构建对话请求参数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ChatCompletionCreateParams req = ChatCompletionCreateParams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.builder().model("glm-4")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.messages(Arrays.asList(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ChatMessage.builder().role("user")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.content("你好，请介绍一下你自己").build()</a:t>
            </a: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)).build();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79165" flipH="false" flipV="false">
            <a:off x="5048250" y="4978419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B556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223000" y="3937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11182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3937000"/>
            <a:ext cx="444500" cy="2095500"/>
          </a:xfrm>
          <a:prstGeom prst="roundRect">
            <a:avLst>
              <a:gd name="adj" fmla="val 0"/>
            </a:avLst>
          </a:prstGeom>
          <a:solidFill>
            <a:srgbClr val="37415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000500"/>
            <a:ext cx="444500" cy="196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13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17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18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19</a:t>
            </a: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4000500"/>
            <a:ext cx="4445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// 3. 发送请求并处理响应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client.chat().createChatCompletion(req)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.filter(Response::isSuccess)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.ifPresent(res -&gt; {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String reply = res.getData().getChoices()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.get(0).getMessage().getContent();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System.out.println("AI 回复: " + reply);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4ADE80"/>
                </a:solidFill>
                <a:latin typeface="Roboto Mono"/>
                <a:ea typeface="Roboto Mono"/>
                <a:cs typeface="Roboto Mono"/>
                <a:sym typeface="Roboto Mono"/>
              </a:rPr>
              <a:t>// 优势：自动处理重试、异常与数据映射，开发效率倍增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45000"/>
                </a:srgbClr>
              </a:gs>
              <a:gs pos="100000">
                <a:srgbClr val="000000">
                  <a:alpha val="2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667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064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{"Label":"1","ContentProducer":"001191110102MACQD9K64010000","ProduceID":"7645909641109720260","ReservedCode1":"","ContentPropagator":"","PropagateID":"","ReservedCode2":""}</vt:lpwstr>
  </property>
</Properties>
</file>