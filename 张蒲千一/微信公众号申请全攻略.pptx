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notesSlides/notesSlide1.xml" Type="http://schemas.openxmlformats.org/officeDocument/2006/relationships/notesSlide"/><Relationship Id="rId19" Target="notesSlides/notesSlide2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26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分享。今天我们将一起学习如何从零开始申请一个微信公众号，无论是个人创作者还是企业组织，都能在这里找到清晰的指引。这份攻略将带你从概念解析到实际操作，全面掌握公众号申请的每一个细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明确一下什么是微信公众号。简单来说，它是一个连接品牌与用户的桥梁。通过公众号，你可以发布内容、与粉丝互动，甚至实现商业变现。目前主要有两种类型：订阅号和服务号。订阅号更像一个内容发布器，适合高频推送资讯；而服务号则更像一个业务服务台，提供强大的服务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关键决策点。我们来详细对比一下订阅号和服务号。从定位、推送频率、展示位置到核心功能，两者都有显著差异。简单来说，如果你想频繁发内容，选订阅号；如果你需要提供服务、收款或发送重要通知，就必须选服务号。大家可以结合自己的需求来判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具体该如何选择呢？这里有一个简单的参考。如果你是个人创作者，只能选订阅号。如果是企业，想做内容营销，也选订阅号。但如果你需要用到支付、会员系统这些高级功能，或者要发重要通知，那就必须选服务号。很多成熟的企业会两者都用，订阅号做内容，服务号做服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决定好类型后，我们就要开始准备材料了。个人申请相对简单，主要是身份证、邮箱、手机号和管理员微信。企业申请则需要准备营业执照、法人信息、管理员信息以及对公账户。请大家务必提前准备好这些材料，避免在注册过程中耽误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准备工作就绪，我们来看具体的申请流程。第一步，访问微信公众平台官网，点击立即注册。第二步，选择你想要的账号类型，这里一定要慎重，因为一旦选定就无法更改。接下来是填写邮箱并激活，选择注册地区，最后再次确认账号类型。整个过程非常清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最关键的一步：主体信息登记。个人主体需要填写身份证信息并上传照片，然后用管理员微信扫码验证。企业主体则需要填写营业执照、法人信息等更详细的资料。这一步信息必须真实准确，填写完成后提交，就可以等待审核结果了。个人账号审核较快，企业账号稍慢一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账号注册成功后，如果是企业账号，特别是服务号，强烈建议进行微信认证。认证后不仅能获得一个权威的“V”标，更重要的是能解锁微信支付、模板消息等高级功能。认证流程主要是填写资料、支付300元/年的审核费，然后等待第三方审核机构审核，整个过程大约需要一到两周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解答几个常见问题。比如，一个身份证或营业执照能注册几个号，名称能否修改，注册是否收费等等。这些问题都是大家在申请过程中可能会遇到的。希望今天的分享能帮助大家顺利完成公众号的申请。感谢大家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21.png" Type="http://schemas.openxmlformats.org/officeDocument/2006/relationships/image"/><Relationship Id="rId14" Target="../media/image22.svg" Type="http://schemas.openxmlformats.org/officeDocument/2006/relationships/image"/><Relationship Id="rId15" Target="../media/image23.png" Type="http://schemas.openxmlformats.org/officeDocument/2006/relationships/image"/><Relationship Id="rId16" Target="../media/image24.svg" Type="http://schemas.openxmlformats.org/officeDocument/2006/relationships/image"/><Relationship Id="rId17" Target="../media/image25.png" Type="http://schemas.openxmlformats.org/officeDocument/2006/relationships/image"/><Relationship Id="rId18" Target="../media/image26.svg" Type="http://schemas.openxmlformats.org/officeDocument/2006/relationships/image"/><Relationship Id="rId19" Target="../media/image27.png" Type="http://schemas.openxmlformats.org/officeDocument/2006/relationships/image"/><Relationship Id="rId2" Target="../media/image2.jpeg" Type="http://schemas.openxmlformats.org/officeDocument/2006/relationships/image"/><Relationship Id="rId20" Target="../media/image28.svg" Type="http://schemas.openxmlformats.org/officeDocument/2006/relationships/image"/><Relationship Id="rId21" Target="../notesSlides/notesSlide5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6.sv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13" Target="../media/image39.png" Type="http://schemas.openxmlformats.org/officeDocument/2006/relationships/image"/><Relationship Id="rId14" Target="../media/image40.svg" Type="http://schemas.openxmlformats.org/officeDocument/2006/relationships/image"/><Relationship Id="rId15" Target="../media/image41.png" Type="http://schemas.openxmlformats.org/officeDocument/2006/relationships/image"/><Relationship Id="rId16" Target="../media/image42.svg" Type="http://schemas.openxmlformats.org/officeDocument/2006/relationships/image"/><Relationship Id="rId17" Target="../media/image43.png" Type="http://schemas.openxmlformats.org/officeDocument/2006/relationships/image"/><Relationship Id="rId18" Target="../media/image44.svg" Type="http://schemas.openxmlformats.org/officeDocument/2006/relationships/image"/><Relationship Id="rId19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5.jpeg" Type="http://schemas.openxmlformats.org/officeDocument/2006/relationships/image"/><Relationship Id="rId3" Target="../notesSlides/notesSlide9.xml" Type="http://schemas.openxmlformats.org/officeDocument/2006/relationships/notesSlide"/><Relationship Id="rId4" Target="../media/image4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667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微信公众号申请全攻略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937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从入门到精通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什么是微信公众号？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7C16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625600"/>
            <a:ext cx="10287000" cy="939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微信公众号是腾讯公司在微信生态中推出的核心服务，旨在为个人、企业及各类组织构建专属的数字化服务窗口。它不仅是高效的内容发布与传播平台，更是一个集品牌官方形象展示、用户精细化连接、全流程在线服务以及多元化商业变现于一体的综合生态系统，帮助运营者与数亿微信用户建立深度连接，实现服务与价值的高效传递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921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7C160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92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14400" y="3073400"/>
            <a:ext cx="279400" cy="279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295400" y="3048000"/>
            <a:ext cx="1968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品牌塑造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14400" y="3505200"/>
            <a:ext cx="2349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构建官方的数字化品牌阵地，传递品牌核心价值与理念，在用户心中建立专业、可信赖的品牌认知，形成独特的品牌记忆点。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492500" y="2921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7C160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492500" y="292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644900" y="3073400"/>
            <a:ext cx="279400" cy="279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025900" y="3048000"/>
            <a:ext cx="1968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内容传播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644900" y="3505200"/>
            <a:ext cx="2349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通过图文、视频、音频等多元形式，将优质内容精准推送给订阅用户，打破信息传递的时空限制，持续沉淀私域流量与内容影响力。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2921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7C160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292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375400" y="3073400"/>
            <a:ext cx="279400" cy="279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756400" y="3048000"/>
            <a:ext cx="1968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用户连接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75400" y="3505200"/>
            <a:ext cx="2349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搭建与粉丝的直接沟通桥梁，建立长期、稳定的互动关系。通过实时的消息回复与活动互动，深度了解用户需求，增强用户归属感。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953500" y="2921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7C160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953500" y="292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105900" y="3073400"/>
            <a:ext cx="279400" cy="279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9486900" y="3048000"/>
            <a:ext cx="1968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商业变现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105900" y="3505200"/>
            <a:ext cx="2349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打通从流量到收益的转化链路，支持流量主广告、小程序电商、付费服务等多种盈利模式，帮助运营者将用户价值转化为实际商业收益。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4826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12700" cmpd="sng" cap="flat">
            <a:solidFill>
              <a:srgbClr val="07C16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52500" y="4927600"/>
            <a:ext cx="4889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订阅号 · 轻量化内容传播主阵地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52500" y="5359400"/>
            <a:ext cx="4889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33333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侧重于高频次的信息发布与资讯推送，是内容创作者、媒体及品牌方进行日常内容营销的理想选择。支持每天发布多条内容，以轻量化的方式持续触达用户，帮助运营者快速积累粉丝，打造具有持续影响力的内容IP，适合需要高频曝光的内容型运营场景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286500" y="4826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12700" cmpd="sng" cap="flat">
            <a:solidFill>
              <a:srgbClr val="07C16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477000" y="4927600"/>
            <a:ext cx="4889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服务号 · 深度化业务服务核心端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477000" y="5359400"/>
            <a:ext cx="4889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33333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侧重于企业级的服务交互与业务落地，为商家和企业提供强大的用户管理与业务开发能力。支持自定义菜单、微信支付、模板消息等核心功能，能够承载复杂的业务流程与服务场景，帮助企业搭建一站式的移动服务平台，显著提升用户服务效率与体验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79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核心决策：订阅号 vs. 服务号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587500"/>
            <a:ext cx="10287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选择正确的账号类型是微信生态运营的基石。不同的账号类型对应着截然不同的推送权限、用户触达方式与功能接口，这一决策将直接决定您的服务模式、用户体验以及后续的商业变现路径。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540000"/>
            <a:ext cx="5334000" cy="2857500"/>
          </a:xfrm>
          <a:prstGeom prst="roundRect">
            <a:avLst>
              <a:gd name="adj" fmla="val 0"/>
            </a:avLst>
          </a:prstGeom>
          <a:solidFill>
            <a:srgbClr val="E6F7EB">
              <a:alpha val="9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540000"/>
            <a:ext cx="5334000" cy="5842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5781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订阅号 · 内容分发与品牌传播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3238500"/>
            <a:ext cx="25146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90600" y="3263900"/>
            <a:ext cx="2349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定位与适用主体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90600" y="3581400"/>
            <a:ext cx="234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聚焦内容输出与品牌宣传；个人、媒体、企业均可注册，门槛低，适合高频信息发布场景。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492500" y="3238500"/>
            <a:ext cx="25146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594100" y="3263900"/>
            <a:ext cx="2349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推送规则与入口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594100" y="3581400"/>
            <a:ext cx="234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每日可群发1次；消息折叠在“订阅号消息”文件夹中，用户需主动点击查看，打扰度低。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9000" y="4343400"/>
            <a:ext cx="25146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90600" y="4368800"/>
            <a:ext cx="2349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触达效率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90600" y="4686300"/>
            <a:ext cx="234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触达率相对较低，依赖用户阅读习惯；适合做长期的粉丝沉淀与持续的价值内容种草。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492500" y="4343400"/>
            <a:ext cx="25146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594100" y="4368800"/>
            <a:ext cx="2349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基础功能配置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594100" y="4686300"/>
            <a:ext cx="234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仅支持图文、视频等基础内容发布，无复杂业务接口，是轻量化内容运营的理想选择。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5384721" flipH="false" flipV="false">
            <a:off x="4768850" y="3962414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7C160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286500" y="2540000"/>
            <a:ext cx="5334000" cy="2857500"/>
          </a:xfrm>
          <a:prstGeom prst="roundRect">
            <a:avLst>
              <a:gd name="adj" fmla="val 0"/>
            </a:avLst>
          </a:prstGeom>
          <a:solidFill>
            <a:srgbClr val="F7F8FA">
              <a:alpha val="9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86500" y="2540000"/>
            <a:ext cx="5334000" cy="584200"/>
          </a:xfrm>
          <a:prstGeom prst="roundRect">
            <a:avLst>
              <a:gd name="adj" fmla="val 0"/>
            </a:avLst>
          </a:prstGeom>
          <a:solidFill>
            <a:srgbClr val="3D3D3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77000" y="25781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服务号 · 业务办理与深度服务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13500" y="3238500"/>
            <a:ext cx="25146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515100" y="3263900"/>
            <a:ext cx="2349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定位与适用主体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515100" y="3581400"/>
            <a:ext cx="234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聚焦业务服务与客户互动；仅限企业、组织及政府注册，侧重专业服务交付与管理。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017000" y="3238500"/>
            <a:ext cx="25146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118600" y="3263900"/>
            <a:ext cx="2349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推送规则与入口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118600" y="3581400"/>
            <a:ext cx="234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每月仅可群发4次；消息直接出现在微信聊天列表，拥有原生的即时消息提醒能力。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413500" y="4343400"/>
            <a:ext cx="25146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515100" y="4368800"/>
            <a:ext cx="2349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触达效率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515100" y="4686300"/>
            <a:ext cx="234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触达率极高，信息打开率高；适合发布重要通知、紧急活动、服务进度及关键提醒。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9017000" y="4343400"/>
            <a:ext cx="25146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9118600" y="4368800"/>
            <a:ext cx="23495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商业核心功能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118600" y="4686300"/>
            <a:ext cx="234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支持微信支付、模板消息、自定义菜单等高级接口，是构建商业闭环与服务体系的核心。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762000" y="5524500"/>
            <a:ext cx="10858500" cy="1079500"/>
          </a:xfrm>
          <a:prstGeom prst="roundRect">
            <a:avLst>
              <a:gd name="adj" fmla="val 0"/>
            </a:avLst>
          </a:prstGeom>
          <a:solidFill>
            <a:srgbClr val="FFF8EB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762000" y="5524500"/>
            <a:ext cx="50800" cy="1079500"/>
          </a:xfrm>
          <a:prstGeom prst="roundRect">
            <a:avLst>
              <a:gd name="adj" fmla="val 0"/>
            </a:avLst>
          </a:prstGeom>
          <a:solidFill>
            <a:srgbClr val="FAAD1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52500" y="5562600"/>
            <a:ext cx="10414000" cy="990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💡 决策建议：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若业务核心是高频内容更新、品牌日常曝光或自媒体运营，订阅号是首选；若需提供复杂业务办理、支付结算、会员服务，或需要最高级别的用户触达（如活动、通知），服务号则是不可替代的选择。请务必根据业务的长期服务模式与核心价值来做最终定夺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79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如何选择适合你的账号类型？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705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7C16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6764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订阅号 · 内容传播与品牌发声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222500"/>
            <a:ext cx="16002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311400"/>
            <a:ext cx="1473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个人创作者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2730500"/>
            <a:ext cx="1473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博主、学生或自媒体人专属。个人仅可注册订阅号，每日一次推送适合持续的内容创作与观点分享。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603500" y="2222500"/>
            <a:ext cx="16002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667000" y="2311400"/>
            <a:ext cx="1473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媒体资讯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667000" y="2730500"/>
            <a:ext cx="1473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报社、杂志社首选。满足高频次新闻发布需求，依托内容时效性触达广泛读者，扩大媒体影响力。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05300" y="2222500"/>
            <a:ext cx="16002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68800" y="2311400"/>
            <a:ext cx="1473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品牌方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368800" y="2730500"/>
            <a:ext cx="1473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发布产品动态与品牌故事。通过优质内容建立情感连接，潜移默化传递品牌价值，长期维系用户粘性。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9000" y="4127500"/>
            <a:ext cx="5016500" cy="825500"/>
          </a:xfrm>
          <a:prstGeom prst="roundRect">
            <a:avLst>
              <a:gd name="adj" fmla="val 0"/>
            </a:avLst>
          </a:prstGeom>
          <a:solidFill>
            <a:srgbClr val="F0F9F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191000"/>
            <a:ext cx="476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33333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核心定位：轻量级内容窗口。无需复杂的业务交互，专注于高频信息分发，是品牌日常与用户对话的最佳渠道。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159500" y="1524000"/>
            <a:ext cx="52705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1890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1595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8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0" y="16764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890FF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服务号 · 业务承载与功能闭环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86500" y="2222500"/>
            <a:ext cx="1600200" cy="1714500"/>
          </a:xfrm>
          <a:prstGeom prst="roundRect">
            <a:avLst>
              <a:gd name="adj" fmla="val 0"/>
            </a:avLst>
          </a:prstGeom>
          <a:solidFill>
            <a:srgbClr val="1890FF">
              <a:alpha val="7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350000" y="2311400"/>
            <a:ext cx="1473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商业经营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0" y="2730500"/>
            <a:ext cx="1473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需支付、会员或预约系统。必须完成企业认证，解锁微信支付等核心能力，支撑交易与服务落地。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001000" y="2222500"/>
            <a:ext cx="1600200" cy="1714500"/>
          </a:xfrm>
          <a:prstGeom prst="roundRect">
            <a:avLst>
              <a:gd name="adj" fmla="val 0"/>
            </a:avLst>
          </a:prstGeom>
          <a:solidFill>
            <a:srgbClr val="1890FF">
              <a:alpha val="7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064500" y="2311400"/>
            <a:ext cx="1473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关键提醒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064500" y="2730500"/>
            <a:ext cx="1473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账单、活动或服务通知。消息直接进入微信聊天列表，拥有极高的阅读触达率，确保信息及时传达。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702800" y="2222500"/>
            <a:ext cx="1600200" cy="1714500"/>
          </a:xfrm>
          <a:prstGeom prst="roundRect">
            <a:avLst>
              <a:gd name="adj" fmla="val 0"/>
            </a:avLst>
          </a:prstGeom>
          <a:solidFill>
            <a:srgbClr val="1890FF">
              <a:alpha val="7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766300" y="2311400"/>
            <a:ext cx="1473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公共机构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766300" y="2730500"/>
            <a:ext cx="1473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政务、医疗或教育单位。提供查询、缴费、挂号等在线服务，让数据多跑路，显著提升公共服务效率。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286500" y="4127500"/>
            <a:ext cx="5016500" cy="825500"/>
          </a:xfrm>
          <a:prstGeom prst="roundRect">
            <a:avLst>
              <a:gd name="adj" fmla="val 0"/>
            </a:avLst>
          </a:prstGeom>
          <a:solidFill>
            <a:srgbClr val="E6F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413500" y="4191000"/>
            <a:ext cx="476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33333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核心定位：业务服务中枢。拥有强大的接口能力，每月四次精准触达，侧重于为用户提供功能性服务与业务办理。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62000" y="5207000"/>
            <a:ext cx="106680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9000"/>
            </a:srgbClr>
          </a:solidFill>
          <a:ln w="12700" cmpd="sng" cap="flat">
            <a:solidFill>
              <a:srgbClr val="07C16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2000" y="5207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1016000" y="53086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进阶组合策略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1016000" y="5740400"/>
            <a:ext cx="10033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大型企业的最优解是「订阅号 + 服务号」双轨并行。订阅号作为“内容窗口”，负责高频内容推送与品牌温度传递；服务号作为“业务大厅”，承载支付、会员等核心功能。两者协同，既能持续活跃用户，又能高效完成服务交付，构建完整的私域用户服务体系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申请前的准备工作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60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524000"/>
            <a:ext cx="1028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在开始注册前，请准备好以下材料，确保流程顺畅。提前备齐所需资料能有效缩短审核周期，避免因材料缺失导致注册流程中断，让公众号的开通与认证工作高效推进。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540000"/>
            <a:ext cx="5207000" cy="3746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mpd="sng" cap="flat">
            <a:solidFill>
              <a:srgbClr val="07C16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540000"/>
            <a:ext cx="5207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730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27051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个人申请（仅限订阅号）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9046" flipH="false" flipV="false">
            <a:off x="952508" y="3232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7C16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952500" y="3365500"/>
            <a:ext cx="24130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41400" y="3467100"/>
            <a:ext cx="228600" cy="228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71600" y="3441700"/>
            <a:ext cx="190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个人身份证原件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41400" y="3810000"/>
            <a:ext cx="228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需准备有效期内的中国大陆居民身份证，确保正反面照片清晰、无反光、信息完整，用于身份真实性核验。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429000" y="3365500"/>
            <a:ext cx="24130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517900" y="3467100"/>
            <a:ext cx="228600" cy="228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3848100" y="3441700"/>
            <a:ext cx="190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未注册专属邮箱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517900" y="3810000"/>
            <a:ext cx="228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必须是从未被微信公众平台使用过的邮箱，作为账号登录名及接收重要通知的唯一官方渠道。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4762500"/>
            <a:ext cx="24130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41400" y="4864100"/>
            <a:ext cx="228600" cy="228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371600" y="4838700"/>
            <a:ext cx="190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未绑定手机号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41400" y="5207000"/>
            <a:ext cx="228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需提供中国大陆境内的手机号码，且该号码未绑定其他公众号，用于注册时的短信动态验证。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429000" y="4762500"/>
            <a:ext cx="24130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517900" y="4864100"/>
            <a:ext cx="228600" cy="228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3848100" y="4838700"/>
            <a:ext cx="190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实名管理员微信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517900" y="5207000"/>
            <a:ext cx="228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已完成微信支付实名认证并绑定银行卡的个人微信号，将作为后续账号的最高权限管理员。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159500" y="2540000"/>
            <a:ext cx="5207000" cy="3746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mpd="sng" cap="flat">
            <a:solidFill>
              <a:srgbClr val="07C16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159500" y="2540000"/>
            <a:ext cx="5207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350000" y="2730500"/>
            <a:ext cx="304800" cy="3048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6794500" y="27051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企业/组织申请（全类型适用）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 rot="-9046" flipH="false" flipV="false">
            <a:off x="6350008" y="3232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7C16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2" id="32"/>
          <p:cNvSpPr/>
          <p:nvPr/>
        </p:nvSpPr>
        <p:spPr>
          <a:xfrm rot="0" flipH="false" flipV="false">
            <a:off x="6350000" y="3365500"/>
            <a:ext cx="24130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438900" y="3467100"/>
            <a:ext cx="228600" cy="2286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6769100" y="3441700"/>
            <a:ext cx="190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营业执照副本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438900" y="3810000"/>
            <a:ext cx="228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需提供最新的“三证合一”营业执照彩色扫描件，确保统一社会信用代码等关键信息清晰可辨。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826500" y="3365500"/>
            <a:ext cx="24130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8915400" y="3467100"/>
            <a:ext cx="228600" cy="228600"/>
          </a:xfrm>
          <a:prstGeom prst="rect">
            <a:avLst/>
          </a:prstGeom>
        </p:spPr>
      </p:pic>
      <p:sp>
        <p:nvSpPr>
          <p:cNvPr name="AutoShape 38" id="38"/>
          <p:cNvSpPr/>
          <p:nvPr/>
        </p:nvSpPr>
        <p:spPr>
          <a:xfrm rot="0" flipH="false" flipV="false">
            <a:off x="9245600" y="3441700"/>
            <a:ext cx="190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法人身份信息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915400" y="3810000"/>
            <a:ext cx="228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包括法人姓名、身份证号码及身份证正反面高清照片，信息需与工商行政管理部门登记信息一致。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350000" y="4762500"/>
            <a:ext cx="24130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6438900" y="4864100"/>
            <a:ext cx="228600" cy="228600"/>
          </a:xfrm>
          <a:prstGeom prst="rect">
            <a:avLst/>
          </a:prstGeom>
        </p:spPr>
      </p:pic>
      <p:sp>
        <p:nvSpPr>
          <p:cNvPr name="AutoShape 42" id="42"/>
          <p:cNvSpPr/>
          <p:nvPr/>
        </p:nvSpPr>
        <p:spPr>
          <a:xfrm rot="0" flipH="false" flipV="false">
            <a:off x="6769100" y="4838700"/>
            <a:ext cx="190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运营者实名信息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6438900" y="5207000"/>
            <a:ext cx="228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运营者的姓名、身份证号、手机号及实名微信号，注册过程中需本人完成微信端的人脸验证。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8826500" y="4762500"/>
            <a:ext cx="24130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5" id="45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 flipH="false" flipV="false">
            <a:off x="8915400" y="4864100"/>
            <a:ext cx="228600" cy="228600"/>
          </a:xfrm>
          <a:prstGeom prst="rect">
            <a:avLst/>
          </a:prstGeom>
        </p:spPr>
      </p:pic>
      <p:sp>
        <p:nvSpPr>
          <p:cNvPr name="AutoShape 46" id="46"/>
          <p:cNvSpPr/>
          <p:nvPr/>
        </p:nvSpPr>
        <p:spPr>
          <a:xfrm rot="0" flipH="false" flipV="false">
            <a:off x="9245600" y="4838700"/>
            <a:ext cx="190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企业对公账户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8915400" y="5207000"/>
            <a:ext cx="228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开户名称与企业主体完全一致的对公银行账户，用于微信认证阶段的小额打款验证，以确认主体身份。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通用申请流程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803400"/>
            <a:ext cx="76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14500" y="1841500"/>
            <a:ext cx="2349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访问官网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2540000"/>
            <a:ext cx="317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打开浏览器访问微信公众平台官网 (mp.weixin.qq.com)，在页面右上角找到并点击「立即注册」按钮，正式进入账号申请流程。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08500" y="1803400"/>
            <a:ext cx="76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334000" y="1841500"/>
            <a:ext cx="2349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选择账号类型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08500" y="2540000"/>
            <a:ext cx="317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根据业务定位选择「订阅号」或「服务号」。</a:t>
            </a:r>
            <a:r>
              <a:rPr lang="en-US" b="true" i="false" strike="noStrike" u="none" sz="12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核心注意：类型一旦确认提交后不可更改，请务必结合运营需求慎重决定。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01000" y="165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01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0" y="1803400"/>
            <a:ext cx="76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953500" y="1841500"/>
            <a:ext cx="2349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填写邮箱并激活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2540000"/>
            <a:ext cx="317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输入未被注册的有效邮箱，设置安全密码。提交后需登录该邮箱，查收官方激活邮件并点击链接，完成账号的初步激活验证。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3937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3937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89000" y="4089400"/>
            <a:ext cx="76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714500" y="4127500"/>
            <a:ext cx="2349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选择注册地区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89000" y="4826000"/>
            <a:ext cx="317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系统将引导选择账号主体所在地区，国内企业、组织及个人通常选择「中国大陆」。准确选择地区是后续主体认证的基础步骤。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381500" y="3937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381500" y="3937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508500" y="4089400"/>
            <a:ext cx="76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334000" y="4127500"/>
            <a:ext cx="2349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再次确认类型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508500" y="4826000"/>
            <a:ext cx="317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系统会最后一次弹窗展示所选账号类型及对应权益说明，请仔细阅读《微信公众平台服务协议》，确认无误后点击「确定」进入下一步。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001000" y="3937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07C160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001000" y="3937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128000" y="4127500"/>
            <a:ext cx="317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关键提醒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128000" y="4826000"/>
            <a:ext cx="317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注册前请务必明确账号定位：服务号适合高频业务交互，订阅号适合内容资讯发布。一旦完成注册，账号主体与类型均不支持变更。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主体信息登记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705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7C16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714500"/>
            <a:ext cx="482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个人主体登记 · 极简流程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413000"/>
            <a:ext cx="16256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413000"/>
            <a:ext cx="16256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514600"/>
            <a:ext cx="1498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01 选择类型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2946400"/>
            <a:ext cx="14986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明确注册身份，直接选定“个人”作为主体类型，确立账号的个人运营属性。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705100" y="2413000"/>
            <a:ext cx="16256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705100" y="2413000"/>
            <a:ext cx="16256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768600" y="2514600"/>
            <a:ext cx="1498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02 身份填写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768600" y="2946400"/>
            <a:ext cx="14986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输入本人真实姓名与身份证号码，信息需与实体证件完全一致，确保真实性校验通过。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19600" y="2413000"/>
            <a:ext cx="16256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419600" y="2413000"/>
            <a:ext cx="16256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483100" y="2514600"/>
            <a:ext cx="1498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03 证照上传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483100" y="2946400"/>
            <a:ext cx="14986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拍摄并上传身份证正反面清晰照片，照片需无反光、无遮挡，确保关键信息清晰可辨。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4254500"/>
            <a:ext cx="16256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2500" y="4254500"/>
            <a:ext cx="16256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4356100"/>
            <a:ext cx="1498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04 实名验证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" y="4787900"/>
            <a:ext cx="14986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绑定管理员手机号获取验证码，并用本人实名微信扫码，完成主体与运营者的身份绑定。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705100" y="4254500"/>
            <a:ext cx="16256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705100" y="4254500"/>
            <a:ext cx="16256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768600" y="4356100"/>
            <a:ext cx="1498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05 账号配置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2768600" y="4787900"/>
            <a:ext cx="14986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设置公众号的对外展示名称、功能简介，并选定账号的主要运营地区，完成基础搭建。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419600" y="4254500"/>
            <a:ext cx="16256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419600" y="4254500"/>
            <a:ext cx="16256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483100" y="4356100"/>
            <a:ext cx="1498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06 提交审核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4483100" y="4787900"/>
            <a:ext cx="14986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再次核对所有填写信息，确认无误后提交。个人主体审核通常较快，留意审核结果通知。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 rot="5390316" flipH="false" flipV="false">
            <a:off x="3905250" y="39624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7C16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2" id="32"/>
          <p:cNvSpPr/>
          <p:nvPr/>
        </p:nvSpPr>
        <p:spPr>
          <a:xfrm rot="0" flipH="false" flipV="false">
            <a:off x="6286500" y="1524000"/>
            <a:ext cx="52705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7C16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2865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477000" y="1714500"/>
            <a:ext cx="482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企业/组织主体登记 · 资质核验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477000" y="2413000"/>
            <a:ext cx="16256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477000" y="2413000"/>
            <a:ext cx="16256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540500" y="2514600"/>
            <a:ext cx="1498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01 主体选定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540500" y="2946400"/>
            <a:ext cx="14986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根据实际经营性质，选择“企业”、“媒体”或“政府”等对应组织类型，匹配合规资质。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191500" y="2413000"/>
            <a:ext cx="16256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191500" y="2413000"/>
            <a:ext cx="16256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8255000" y="2514600"/>
            <a:ext cx="1498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02 资质录入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8255000" y="2946400"/>
            <a:ext cx="14986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填写企业工商全称与统一社会信用代码，上传加盖公章的营业执照高清扫描件作为凭证。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9842500" y="2413000"/>
            <a:ext cx="16256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9842500" y="2413000"/>
            <a:ext cx="16256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9906000" y="2514600"/>
            <a:ext cx="1498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03 法人备案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9906000" y="2946400"/>
            <a:ext cx="14986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准确填写企业法定代表人姓名及身份证号码，该信息需与工商注册系统中的备案信息保持一致。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6477000" y="4254500"/>
            <a:ext cx="16256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6477000" y="4254500"/>
            <a:ext cx="16256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6540500" y="4356100"/>
            <a:ext cx="1498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04 运营授权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6540500" y="4787900"/>
            <a:ext cx="14986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录入运营管理员的详细信息，通过微信扫码完成企业账号的管理员权限授权，保障操作安全。</a:t>
            </a:r>
            <a:endParaRPr lang="en-US" sz="1100"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8191500" y="4254500"/>
            <a:ext cx="16256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8191500" y="4254500"/>
            <a:ext cx="16256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3" id="53"/>
          <p:cNvSpPr/>
          <p:nvPr/>
        </p:nvSpPr>
        <p:spPr>
          <a:xfrm rot="0" flipH="false" flipV="false">
            <a:off x="8255000" y="4356100"/>
            <a:ext cx="1498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05 官方配置</a:t>
            </a:r>
            <a:endParaRPr lang="en-US" sz="1100"/>
          </a:p>
        </p:txBody>
      </p:sp>
      <p:sp>
        <p:nvSpPr>
          <p:cNvPr name="AutoShape 54" id="54"/>
          <p:cNvSpPr/>
          <p:nvPr/>
        </p:nvSpPr>
        <p:spPr>
          <a:xfrm rot="0" flipH="false" flipV="false">
            <a:off x="8255000" y="4787900"/>
            <a:ext cx="14986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设定公众号对外的正式名称、功能介绍文案，并根据业务覆盖范围选择对应的运营地区。</a:t>
            </a:r>
            <a:endParaRPr lang="en-US" sz="1100"/>
          </a:p>
        </p:txBody>
      </p:sp>
      <p:sp>
        <p:nvSpPr>
          <p:cNvPr name="AutoShape 55" id="55"/>
          <p:cNvSpPr/>
          <p:nvPr/>
        </p:nvSpPr>
        <p:spPr>
          <a:xfrm rot="0" flipH="false" flipV="false">
            <a:off x="9842500" y="4254500"/>
            <a:ext cx="16256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6" id="56"/>
          <p:cNvSpPr/>
          <p:nvPr/>
        </p:nvSpPr>
        <p:spPr>
          <a:xfrm rot="0" flipH="false" flipV="false">
            <a:off x="9842500" y="4254500"/>
            <a:ext cx="16256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7" id="57"/>
          <p:cNvSpPr/>
          <p:nvPr/>
        </p:nvSpPr>
        <p:spPr>
          <a:xfrm rot="0" flipH="false" flipV="false">
            <a:off x="9906000" y="4356100"/>
            <a:ext cx="1498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06 终审提交</a:t>
            </a:r>
            <a:endParaRPr lang="en-US" sz="1100"/>
          </a:p>
        </p:txBody>
      </p:sp>
      <p:sp>
        <p:nvSpPr>
          <p:cNvPr name="AutoShape 58" id="58"/>
          <p:cNvSpPr/>
          <p:nvPr/>
        </p:nvSpPr>
        <p:spPr>
          <a:xfrm rot="0" flipH="false" flipV="false">
            <a:off x="9906000" y="4787900"/>
            <a:ext cx="14986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严格复核企业资质文件与填报信息，无误后提交审核。企业主体审核周期较长，请耐心等待。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微信认证：解锁高级功能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460500"/>
            <a:ext cx="1028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对于企业或组织运营的服务号而言，微信认证不仅是账号身份的官方确认，更是解锁平台全部商业潜力的必经之路。通过认证，企业可以获得官方背书，并开启一系列核心业务功能，为用户提供更专业、更完整的服务体验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349500"/>
            <a:ext cx="34671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7C16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349500"/>
            <a:ext cx="34671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5146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2489200"/>
            <a:ext cx="273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获得权威认证标识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2984500"/>
            <a:ext cx="3111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在账号名称旁展示官方“V”形认证徽章，直观提升品牌在微信生态内的公信力，有效降低用户决策成本，建立可靠的服务形象。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2349500"/>
            <a:ext cx="34671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7C16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2349500"/>
            <a:ext cx="34671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25146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016500" y="2489200"/>
            <a:ext cx="273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解锁核心商业功能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72000" y="2984500"/>
            <a:ext cx="3111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正式开通微信支付、一次性订阅消息、模板消息推送及自定义菜单等关键接口。这是实现交易闭环、自动化服务和个性化用户运营的基础。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2349500"/>
            <a:ext cx="34671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7C16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349500"/>
            <a:ext cx="34671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25146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636000" y="2489200"/>
            <a:ext cx="273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搜索流量优先倾斜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91500" y="2984500"/>
            <a:ext cx="3111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在微信内进行关键词搜索时，完成认证的账号将获得更高的算法权重。这意味着品牌能获得更靠前的展示位，从而获取更多的自然精准流量。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4254500"/>
            <a:ext cx="10706100" cy="2349500"/>
          </a:xfrm>
          <a:prstGeom prst="roundRect">
            <a:avLst>
              <a:gd name="adj" fmla="val 0"/>
            </a:avLst>
          </a:prstGeom>
          <a:solidFill>
            <a:srgbClr val="07C160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381500"/>
            <a:ext cx="1981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4381500"/>
            <a:ext cx="19812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89000" y="4508500"/>
            <a:ext cx="279400" cy="279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270000" y="4508500"/>
            <a:ext cx="139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发起申请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89000" y="4953000"/>
            <a:ext cx="177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登录公众号后台，在“设置与开发”中找到“微信认证”入口。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89000" y="5715000"/>
            <a:ext cx="1778000" cy="571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52500" y="57531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点击「开通」启动流程</a:t>
            </a:r>
            <a:endParaRPr lang="en-US" sz="1100"/>
          </a:p>
        </p:txBody>
      </p:sp>
      <p:cxnSp>
        <p:nvCxnSpPr>
          <p:cNvPr name="Connector 29" id="29"/>
          <p:cNvCxnSpPr/>
          <p:nvPr/>
        </p:nvCxnSpPr>
        <p:spPr>
          <a:xfrm rot="5377082" flipH="false" flipV="false">
            <a:off x="1866900" y="5454671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7C16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0" id="30"/>
          <p:cNvSpPr/>
          <p:nvPr/>
        </p:nvSpPr>
        <p:spPr>
          <a:xfrm rot="0" flipH="false" flipV="false">
            <a:off x="2832100" y="4381500"/>
            <a:ext cx="1981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2832100" y="4381500"/>
            <a:ext cx="19812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2959100" y="4508500"/>
            <a:ext cx="279400" cy="2794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3340100" y="4508500"/>
            <a:ext cx="139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提交资料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2959100" y="4953000"/>
            <a:ext cx="177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按系统提示填写企业真实信息，上传营业执照及运营者资料。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2959100" y="5715000"/>
            <a:ext cx="1778000" cy="571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3022600" y="57531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信息需与工商一致</a:t>
            </a:r>
            <a:endParaRPr lang="en-US" sz="1100"/>
          </a:p>
        </p:txBody>
      </p:sp>
      <p:cxnSp>
        <p:nvCxnSpPr>
          <p:cNvPr name="Connector 37" id="37"/>
          <p:cNvCxnSpPr/>
          <p:nvPr/>
        </p:nvCxnSpPr>
        <p:spPr>
          <a:xfrm rot="5377082" flipH="false" flipV="false">
            <a:off x="3937000" y="5454671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7C16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8" id="38"/>
          <p:cNvSpPr/>
          <p:nvPr/>
        </p:nvSpPr>
        <p:spPr>
          <a:xfrm rot="0" flipH="false" flipV="false">
            <a:off x="4902200" y="4381500"/>
            <a:ext cx="1981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4902200" y="4381500"/>
            <a:ext cx="19812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5029200" y="4508500"/>
            <a:ext cx="279400" cy="279400"/>
          </a:xfrm>
          <a:prstGeom prst="rect">
            <a:avLst/>
          </a:prstGeom>
        </p:spPr>
      </p:pic>
      <p:sp>
        <p:nvSpPr>
          <p:cNvPr name="AutoShape 41" id="41"/>
          <p:cNvSpPr/>
          <p:nvPr/>
        </p:nvSpPr>
        <p:spPr>
          <a:xfrm rot="0" flipH="false" flipV="false">
            <a:off x="5410200" y="4508500"/>
            <a:ext cx="139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费用缴纳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5029200" y="4953000"/>
            <a:ext cx="177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确认提交后，在线支付由第三方审核机构收取的年度审核费用。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5029200" y="5715000"/>
            <a:ext cx="1778000" cy="571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5092700" y="57531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标准费用 300元/年</a:t>
            </a:r>
            <a:endParaRPr lang="en-US" sz="1100"/>
          </a:p>
        </p:txBody>
      </p:sp>
      <p:cxnSp>
        <p:nvCxnSpPr>
          <p:cNvPr name="Connector 45" id="45"/>
          <p:cNvCxnSpPr/>
          <p:nvPr/>
        </p:nvCxnSpPr>
        <p:spPr>
          <a:xfrm rot="5377082" flipH="false" flipV="false">
            <a:off x="6007100" y="5454671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7C16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46" id="46"/>
          <p:cNvSpPr/>
          <p:nvPr/>
        </p:nvSpPr>
        <p:spPr>
          <a:xfrm rot="0" flipH="false" flipV="false">
            <a:off x="6972300" y="4381500"/>
            <a:ext cx="1981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6972300" y="4381500"/>
            <a:ext cx="19812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8" id="48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7099300" y="4508500"/>
            <a:ext cx="279400" cy="279400"/>
          </a:xfrm>
          <a:prstGeom prst="rect">
            <a:avLst/>
          </a:prstGeom>
        </p:spPr>
      </p:pic>
      <p:sp>
        <p:nvSpPr>
          <p:cNvPr name="AutoShape 49" id="49"/>
          <p:cNvSpPr/>
          <p:nvPr/>
        </p:nvSpPr>
        <p:spPr>
          <a:xfrm rot="0" flipH="false" flipV="false">
            <a:off x="7480300" y="4508500"/>
            <a:ext cx="139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审核验证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7099300" y="4953000"/>
            <a:ext cx="177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审核机构进行资质审核，部分情况需完成对公账户小额打款验证。</a:t>
            </a:r>
            <a:endParaRPr lang="en-US" sz="1100"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7099300" y="5715000"/>
            <a:ext cx="1778000" cy="571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7162800" y="57531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周期约1-15个工作日</a:t>
            </a:r>
            <a:endParaRPr lang="en-US" sz="1100"/>
          </a:p>
        </p:txBody>
      </p:sp>
      <p:cxnSp>
        <p:nvCxnSpPr>
          <p:cNvPr name="Connector 53" id="53"/>
          <p:cNvCxnSpPr/>
          <p:nvPr/>
        </p:nvCxnSpPr>
        <p:spPr>
          <a:xfrm rot="5377082" flipH="false" flipV="false">
            <a:off x="8077200" y="5454671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7C160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54" id="54"/>
          <p:cNvSpPr/>
          <p:nvPr/>
        </p:nvSpPr>
        <p:spPr>
          <a:xfrm rot="0" flipH="false" flipV="false">
            <a:off x="9042400" y="4381500"/>
            <a:ext cx="23876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5" id="55"/>
          <p:cNvSpPr/>
          <p:nvPr/>
        </p:nvSpPr>
        <p:spPr>
          <a:xfrm rot="0" flipH="false" flipV="false">
            <a:off x="9042400" y="4381500"/>
            <a:ext cx="23876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6" id="56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9169400" y="4508500"/>
            <a:ext cx="279400" cy="279400"/>
          </a:xfrm>
          <a:prstGeom prst="rect">
            <a:avLst/>
          </a:prstGeom>
        </p:spPr>
      </p:pic>
      <p:sp>
        <p:nvSpPr>
          <p:cNvPr name="AutoShape 57" id="57"/>
          <p:cNvSpPr/>
          <p:nvPr/>
        </p:nvSpPr>
        <p:spPr>
          <a:xfrm rot="0" flipH="false" flipV="false">
            <a:off x="9550400" y="45085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认证成功</a:t>
            </a:r>
            <a:endParaRPr lang="en-US" sz="1100"/>
          </a:p>
        </p:txBody>
      </p:sp>
      <p:sp>
        <p:nvSpPr>
          <p:cNvPr name="AutoShape 58" id="58"/>
          <p:cNvSpPr/>
          <p:nvPr/>
        </p:nvSpPr>
        <p:spPr>
          <a:xfrm rot="0" flipH="false" flipV="false">
            <a:off x="9169400" y="4953000"/>
            <a:ext cx="222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审核通过后自动生效，账号获得认证标识，所有高级接口正式开通。</a:t>
            </a:r>
            <a:endParaRPr lang="en-US" sz="1100"/>
          </a:p>
        </p:txBody>
      </p:sp>
      <p:sp>
        <p:nvSpPr>
          <p:cNvPr name="AutoShape 59" id="59"/>
          <p:cNvSpPr/>
          <p:nvPr/>
        </p:nvSpPr>
        <p:spPr>
          <a:xfrm rot="0" flipH="false" flipV="false">
            <a:off x="9169400" y="5715000"/>
            <a:ext cx="2222500" cy="571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0" id="60"/>
          <p:cNvSpPr/>
          <p:nvPr/>
        </p:nvSpPr>
        <p:spPr>
          <a:xfrm rot="0" flipH="false" flipV="false">
            <a:off x="9232900" y="5753100"/>
            <a:ext cx="2095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开启全功能商业运营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762000"/>
            <a:ext cx="1219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98500" y="2032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7C16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98500" y="2032000"/>
            <a:ext cx="5270500" cy="381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63600" y="21844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Q1：注册数量限制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63600" y="2667000"/>
            <a:ext cx="495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一个身份证或营业执照，最多可以注册几个公众号？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63600" y="3238500"/>
            <a:ext cx="4953000" cy="952500"/>
          </a:xfrm>
          <a:prstGeom prst="roundRect">
            <a:avLst>
              <a:gd name="adj" fmla="val 0"/>
            </a:avLst>
          </a:prstGeom>
          <a:solidFill>
            <a:srgbClr val="07C160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289300"/>
            <a:ext cx="4762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个人主体目前仅可注册1个微信订阅号；企业、媒体等组织类主体可注册2个公众号。不同主体类型在注册权限上有明确区分，建议根据实际运营场景和需求提前规划。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2032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7C16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2032000"/>
            <a:ext cx="5270500" cy="381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88100" y="21844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Q2：名称修改规则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88100" y="2667000"/>
            <a:ext cx="495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公众号的名称是否可以修改？如果可以，频率是多少？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88100" y="3238500"/>
            <a:ext cx="4953000" cy="952500"/>
          </a:xfrm>
          <a:prstGeom prst="roundRect">
            <a:avLst>
              <a:gd name="adj" fmla="val 0"/>
            </a:avLst>
          </a:prstGeom>
          <a:solidFill>
            <a:srgbClr val="07C160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3289300"/>
            <a:ext cx="4762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可以修改。个人订阅号每年享有2次免费修改名称的机会；企业认证账号则在每次完成微信官方认证（年审或新认证）时，可同步申请名称修改，需严格遵守微信公众平台的命名规则。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98500" y="4381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7C16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98500" y="4381500"/>
            <a:ext cx="5270500" cy="381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63600" y="45339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Q3：注册与认证费用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63600" y="4978400"/>
            <a:ext cx="495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注册公众号本身需要收费吗？有其他潜在成本吗？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63600" y="5486400"/>
            <a:ext cx="4953000" cy="952500"/>
          </a:xfrm>
          <a:prstGeom prst="roundRect">
            <a:avLst>
              <a:gd name="adj" fmla="val 0"/>
            </a:avLst>
          </a:prstGeom>
          <a:solidFill>
            <a:srgbClr val="07C160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52500" y="5537200"/>
            <a:ext cx="4762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基础注册环节完全免费。企业账号若需解锁自定义菜单、微信支付等高级功能，需进行微信认证，审核服务费为300元/年，认证成功后权益有效期为12个月。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4381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7C16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4381500"/>
            <a:ext cx="5270500" cy="381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388100" y="45339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7C160"/>
                </a:solidFill>
                <a:latin typeface="Noto Sans SC"/>
                <a:ea typeface="Noto Sans SC"/>
                <a:cs typeface="Noto Sans SC"/>
                <a:sym typeface="Noto Sans SC"/>
              </a:rPr>
              <a:t>Q4：账号主体变更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388100" y="4978400"/>
            <a:ext cx="495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个人订阅号运营成熟后，可以转为企业主体账号吗？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88100" y="5486400"/>
            <a:ext cx="4953000" cy="952500"/>
          </a:xfrm>
          <a:prstGeom prst="roundRect">
            <a:avLst>
              <a:gd name="adj" fmla="val 0"/>
            </a:avLst>
          </a:prstGeom>
          <a:solidFill>
            <a:srgbClr val="07C160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77000" y="5537200"/>
            <a:ext cx="4762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不支持直接转换主体类型。但可通过平台提供的“账号迁移”功能，将个人号的粉丝、文章素材、留言功能等核心资产迁移至已认证的企业主体公众号，实现平稳过渡。</a:t>
            </a:r>
            <a:endParaRPr lang="en-US" sz="1100"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{"Label":"1","ContentProducer":"001191110102MACQD9K64010000","ProduceID":"7646044402488167380","ReservedCode1":"","ContentPropagator":"","PropagateID":"","ReservedCode2":""}</vt:lpwstr>
  </property>
</Properties>
</file>