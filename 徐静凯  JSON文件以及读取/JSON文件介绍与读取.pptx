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JavaWeb课程。今天我们将一起学习一个在Web开发中至关重要的工具——JSON。无论你是前端开发者还是后端工程师，掌握JSON都是必备技能。这节课，我们将从基础概念讲起，深入到Java如何读取和处理JSON，最后通过实战案例加深理解。让我们一起进入数据交换的世界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首先，我们会认识什么是JSON以及它在现代Web开发中的重要性。接着，我们会详细学习JSON的基础语法。然后，重点讲解如何在Java中使用两种主流库来读取和处理JSON数据。之后，我们会通过Servlet和Spring Boot的实战案例，看看JSON在真实项目中是如何应用的。最后，分享一些进阶技巧和实用工具，并对本次课程进行总结。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JSON呢？大家可以把它想象成编程世界里的“普通话”。不同的编程语言，比如Java、Python，它们存储数据的方式各不相同。就像不同国家的人说不同的语言一样。而JSON，就是一种大家都能听懂的通用语言，它让数据可以在不同的系统之间轻松、准确地传递。它本质上是一种轻量级的数据交换格式，既方便我们人类阅读，也方便机器解析和生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我们需要JSON呢？这就要提到现代Web开发的主流架构——前后端分离。前端负责页面展示和用户交互，后端负责处理业务逻辑和数据。它们之间就像两个独立的团队，需要一个高效的沟通方式。JSON就是这个沟通桥梁。前端把用户输入的数据打包成JSON发给后端，后端处理完业务逻辑，再把结果以JSON的形式返回给前端。可以说，没有JSON，前后端就无法协同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了解了JSON的重要性后，我们来深入学习它的基础语法。JSON的语法非常简单，掌握起来并不难。接下来，我们将详细介绍JSON支持的数据类型，以及它的两个核心结构：对象和数组。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JSON支持的数据类型非常基础，包括我们熟悉的字符串、数字、布尔值和空值。特别要注意的是，JSON中的字符串必须使用双引号包裹。此外，还有两个非常重要的复合类型：对象和数组，它们是构建复杂JSON数据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JSON对象。它非常像Java中的Map，由一个个键值对组成，整个对象用大括号包裹。键必须是字符串，并且要用双引号。值可以是任何合法的JSON类型。大家看这个例子，一个用户对象包含了ID、用户名、状态等信息，非常直观。记住一个重要规则：最后一个键值对后面不要加逗号，否则会导致解析错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核心结构是JSON数组。它类似于Java中的List，是一个有序的值列表，用方括号包裹。数组里的值可以是任何JSON类型，甚至可以是对象或者另一个数组。比如这个例子，一个用户列表就是一个包含了多个用户对象的数组。通过对象和数组的嵌套，我们可以构建出非常复杂的数据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JSON流行之前，XML是数据交换的主要格式。那么为什么JSON后来居上呢？我们通过这个表格来对比一下。JSON的语法更简洁，没有XML那样冗余的标签，所以数据体积更小，传输更快。它的结构对开发者来说也更友好，解析速度也更快。虽然XML在某些领域如文档描述方面仍有优势，但在前后端API数据交互这个场景下，JSON凭借其轻量和高效，已经成为绝对的主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理论知识学完了，现在我们进入实战环节：如何在Java中读取JSON文件。Java本身并不直接支持JSON，需要借助第三方库。我们将介绍两种主流方式：一种是基础的手动解析，另一种是高效的自动映射。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种方式是使用`org.json`库。它是一个比较基础的库，我们可以通过它来手动解析JSON。首先需要在Maven中引入依赖。然后，我们可以将JSON字符串解析成一个JSONObject对象，再通过`getInt`、`getString`等方法手动获取每个字段的值。这种方式的好处是直观，能让我们理解解析的底层过程，但缺点也很明显，当JSON结构复杂时，手动获取每个字段会非常麻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`org.json`库的繁琐问题，我们引入了更强大的工具——Jackson库。它是目前Java生态中最主流的JSON处理框架。Jackson的核心优势在于能够实现JSON和Java对象之间的自动转换。使用它，我们首先需要引入Maven依赖，然后创建一个与JSON结构对应的Java实体类，也就是JavaBean。这个类需要包含对应的属性、无参构造方法以及getter和setter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JavaBean之后，我们来看如何将JSON字符串转换为Java对象，这个过程称为反序列化。我们只需要创建一个Jackson的核心对象ObjectMapper，然后调用它的readValue方法，传入JSON字符串和目标Java类的Class对象。Jackson就会自动帮我们完成转换，我们得到的就是一个可以直接使用的User对象。相比手动解析，这个过程是不是简洁了很多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反过来，我们也可以将一个Java对象转换为JSON字符串，这个过程叫做序列化。同样使用ObjectMapper，调用它的writeValueAsString方法，传入Java对象即可。Jackson会自动将对象的属性转换为JSON的键值对。这个功能在后端向前端返回数据时非常常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学会了如何在Java中处理JSON，我们接下来看看在真实的JavaWeb项目中，JSON是如何应用的。我们将分别演示在传统的Servlet项目和现代的Spring Boot项目中，如何处理前端发送的JSON请求。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首先看传统的Servlet项目。前端通过fetch API发送一个POST请求，请求头里要明确告诉服务器内容类型是JSON，请求体则是转换后的JSON字符串。后端Servlet需要手动从request对象中读取请求体的内容，得到JSON字符串，然后再用Jackson解析成User对象。处理完业务逻辑后，再将响应结果对象转换为JSON写回response。整个过程需要手动处理IO流，相对繁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再来看Spring Boot，它极大地简化了这个过程。我们只需要创建一个Controller，并在方法参数上加上@RequestBody注解，Spring Boot就会自动将请求体的JSON转换为User对象。方法的返回值如果是一个对象，Spring Boot也会自动将其转换为JSON响应给前端。通过@RestController注解，我们甚至不需要再关注视图解析，整个过程非常简洁，让我们可以更专注于业务逻辑本身。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我们还会遇到一些进阶问题。比如，JSON的字段名和Java类的属性名不一致怎么办？我们可以使用Jackson的`@JsonProperty`注解来指定映射关系。另外，一定要做好异常处理，因为网络数据可能并不总是符合预期格式。我们还可以配置ObjectMapper，让它忽略那些JSON里有但Java类里没有的字段，避免不必要的错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给大家推荐两个非常实用的在线工具：BeJSON和JSON.cn。当我们拿到一段压缩的JSON字符串时，很难阅读和调试。这两个工具可以帮我们快速格式化JSON，让它的结构一目了然，还能校验格式是否正确。在日常开发和调试中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好了，我们来总结一下今天的内容。JSON是现代Web开发中不可或缺的数据交换格式，它的核心语法是对象和数组。在Java中，我们主要使用Jackson库来实现自动化的序列化和反序列化。在JavaWeb项目中，Spring Boot通过注解极大地简化了JSON的处理流程。希望大家通过这次课程，能够熟练掌握JSON的使用，为你们的JavaWeb开发之路打下坚实的基础。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我的讲解到此结束，感谢大家的聆听。现在是问答环节，大家有什么问题可以随时提出。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2.svg"/><Relationship Id="rId10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sv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1079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JSON文件介绍与读取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937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JavaWeb课程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76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14500" y="1714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初识JSON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3495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什么是JSON？为什么需要JSON？了解其作为轻量级数据交换格式的核心价值，以及它在现代前后端分离开发模式中解决的关键问题。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97400" y="1676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22900" y="1714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JSON基础语法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23495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系统学习JSON的核心语法规则，包括基础数据类型、对象结构与数组结构的定义。同时对比传统XML格式，理解JSON在传输效率与解析便捷性上的优势。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1676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1714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Java读取JSON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349500"/>
            <a:ext cx="323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掌握在Java环境中处理JSON数据的两种主流方式：原生org.json库的基础用法，以及企业级开发中广泛应用的Jackson框架，实现高效的数据解析与对象转换。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1275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JavaWeb实战：前后端交互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4762500"/>
            <a:ext cx="495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通过实际案例深入理解后端开发流程。学习使用Servlet原生方式接收和响应JSON数据，再进阶到Spring Boot框架中如何通过注解优雅地处理复杂的JSON请求与响应，打通前后端数据流通的关键环节。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3937000"/>
            <a:ext cx="5461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3937000"/>
            <a:ext cx="5461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4089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41275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进阶技巧与课程总结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762500"/>
            <a:ext cx="520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开发中必备的JSON调试工具与性能优化策略，帮助大家在实际项目中避坑。最后系统梳理全课程核心知识点，回顾从基础语法到框架实战的完整脉络，让大家能够独立且高效地运用JSON技术解决开发中的实际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什么是JSON？—— 让数据“说普通话”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498600"/>
            <a:ext cx="1003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全称：JavaScript Object Notation (JavaScript对象表示法)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它不是一种编程语言，而是一种轻量级的数据交换格式。不同于复杂的二进制数据，JSON以纯文本形式存在，独立于语言环境，是当前互联网应用中最主流的数据传输标准之一。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467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2004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易于人阅读与编写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7465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采用键值对的直观结构，语法清晰如同日常书写的清单。这种特性极大降低了开发者手动编写、调试和理解数据的成本，让非技术人员也能快速看懂数据含义。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3048000"/>
            <a:ext cx="3467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304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97400" y="32004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通用的机器解析语言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97400" y="37465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无论是Java、Python还是JavaScript，几乎所有主流编程语言都内置了成熟的JSON处理库。这意味着数据可以在不同技术栈的系统间被快速生成和解析，实现无缝对接。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3048000"/>
            <a:ext cx="3467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51800" y="304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242300" y="32004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轻量级的传输方案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42300" y="3746500"/>
            <a:ext cx="30861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摒弃了XML等格式的冗余标签，同等信息量下体积更小。在网络传输中占用更少带宽，尤其适合移动端和高并发场景，显著提升了数据交换的速度与运行效率。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308600"/>
            <a:ext cx="10160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一句话总结：</a:t>
            </a:r>
            <a:r>
              <a:rPr lang="en-US" sz="14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JSON就是数据的“普通话”。它打破了不同编程语言、不同系统之间的技术壁垒，让后端服务与前端页面、服务器与客户端之间，能够像使用通用语言一样，进行无障碍、高效率的信息沟通与数据流转。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为什么需要JSON？—— 前后端分离的基石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676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前端：交互与展示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运行在浏览器中，通过 JavaScript 响应用户点击、输入等操作，负责页面的动态渲染与用户交互体验。核心诉求是获取数据并呈现给用户。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4036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核心行为：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接收用户输入，将表单等数据“打包”后发给后端处理。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524000"/>
            <a:ext cx="3492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1714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1676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后端：逻辑与数据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运行在服务器端，基于 Java 等语言处理复杂的业务规则，与数据库进行交互完成数据的增删改查。核心职责是处理请求并提供可靠数据。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609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787900" y="34036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核心行为：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接收前端请求，执行业务逻辑，将处理结果“格式化”后回传。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66100" y="1524000"/>
            <a:ext cx="3492500" cy="2921000"/>
          </a:xfrm>
          <a:prstGeom prst="roundRect">
            <a:avLst>
              <a:gd name="adj" fmla="val 0"/>
            </a:avLst>
          </a:prstGeom>
          <a:solidFill>
            <a:srgbClr val="10B98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6600" y="1714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28100" y="16764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JSON：通用信使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566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一种轻量级、易读的文本格式，独立于编程语言。它是前后端之间的“翻译官”，让不同技术栈的系统能无障碍地理解对方的数据含义。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566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83600" y="34036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2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实现跨语言、跨平台的数据序列化与反序列化，打通数据流动的最后一公里。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108966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48895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 JSON，前后端就如同隔海相望的孤岛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461000"/>
            <a:ext cx="1041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在前后端分离架构中，JSON 是连接用户界面与业务核心的数字化桥梁。前端负责“怎么看”，后端负责“怎么算”，而 JSON 负责“怎么传”。它让开发团队可以并行工作，独立演进，极大地提升了现代 Web 应用的开发效率和维护性。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JSON基础语法详解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JSON支持的数据类型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 (String)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Unicode 字符组成的文本数据，必须使用双引号 `""` 包裹，不可使用单引号。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0353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"name": "张三"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52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171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 (Number)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2225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包含整数、浮点数和科学计数法，直接书写，不需要添加任何引号包裹。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29845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99000" y="30353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"age": 25, "score": 98.5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524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524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91500" y="17145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布尔值 (Boolean)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22225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表示逻辑上的真或假状态，只有两个固定的取值，严格区分大小写。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29845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18500" y="30353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"isStudent": true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0005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0005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191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空值 (Null)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699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表示一个空值、空对象或不存在的属性，与 JavaScript 中的 null 含义一致。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4610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79500" y="55118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"address": null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81500" y="40005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381500" y="40005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572000" y="4191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 (Object)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72000" y="4699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无序的键值对集合，是构建复杂数据结构的基础，使用大括号 `{}` 包裹。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72000" y="54610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699000" y="55118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"user": { "id": 1, "name": "李四" }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001000" y="40005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001000" y="40005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191500" y="4191000"/>
            <a:ext cx="3086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 (Array)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91500" y="4699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值的有序列表，元素可以是任意数据类型，使用中括号 `[]` 包裹。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91500" y="5461000"/>
            <a:ext cx="30861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18500" y="5511800"/>
            <a:ext cx="28321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59669"/>
                </a:solidFill>
                <a:latin typeface="Menlo"/>
                <a:ea typeface="Menlo"/>
                <a:cs typeface="Menlo"/>
                <a:sym typeface="Menlo"/>
              </a:rPr>
              <a:t>"hobbies": ["阅读", "编程", "运动"]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核心结构：对象 (Object)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732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对象就像 Java 中的 Map 容器，是一系列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键值对 (Key-Value Pair)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的无序集合。它通过唯一的键名快速索引对应的数据值，能够灵活地封装复杂的业务数据，是目前前后端网络数据交互中最基础且核心的数据结构。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152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标准语法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667000" y="2603500"/>
            <a:ext cx="8509000" cy="825500"/>
          </a:xfrm>
          <a:prstGeom prst="roundRect">
            <a:avLst>
              <a:gd name="adj" fmla="val 0"/>
            </a:avLst>
          </a:prstGeom>
          <a:solidFill>
            <a:srgbClr val="14532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857500" y="2641600"/>
            <a:ext cx="819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 "key1": value1, "key2": value2, "key3": value3, ... }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以大括号为边界，键名与值之间用冒号分隔，多组数据间用逗号隔开。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2603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38735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包裹界定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整个对象必须使用大括号 `{}` 包裹。这是解析器识别对象开始和结束的关键标志。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925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92500" y="3746500"/>
            <a:ext cx="2603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619500" y="38735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键名约束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195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 (Key) 必须是字符串类型，且必须严格使用双引号 `"` 包裹，单引号或无引号均不合法。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3746500"/>
            <a:ext cx="2603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38735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值的灵活度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 (Value) 支持任意合法 JSON 类型：数字、布尔、字符串、数组、嵌套对象或 null，适应复杂数据表达。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3746500"/>
            <a:ext cx="2603500" cy="381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80500" y="38735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易错点：尾逗号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805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键值对间用逗号分隔，但最后一个键值对后绝对不能加逗号，这是初学者常见的语法错误。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46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52500" y="5524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实战示例：用户档案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包含唯一标识、账号信息、状态标记及兴趣爱好，展示多类型数据的组合。</a:t>
            </a:r>
            <a:endParaRPr lang="en-US" sz="1200" b="0" i="0" u="none" strike="noStrike">
              <a:solidFill>
                <a:srgbClr val="D1D5D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9" name="Connector 29"/>
          <p:cNvCxnSpPr/>
          <p:nvPr/>
        </p:nvCxnSpPr>
        <p:spPr>
          <a:xfrm rot="5357030">
            <a:off x="4191000" y="60642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4889500" y="5562600"/>
            <a:ext cx="63500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5016500" y="5626100"/>
            <a:ext cx="609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 "id": 1001, "username": "zhangsan", "isActive": true, "hobbies": ["篮球", "编程"] }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注：此例混合了数字、字符串、布尔值和数组类型，体现了对象的包容性。</a:t>
            </a:r>
            <a:endParaRPr 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核心结构：数组 (Array)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数组在结构上非常类似于 Java 中的 List 集合，本质上是一个有序的值列表。它允许我们将多个相关的数据项组合在一起，通过索引进行访问，是构建复杂数据集合的基础。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768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语法格式定义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238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整体使用方括号</a:t>
            </a:r>
            <a:r>
              <a:rPr lang="en-US" sz="13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[]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包裹，元素之间使用英文逗号</a:t>
            </a:r>
            <a:r>
              <a:rPr lang="en-US" sz="13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分隔。标准形式为：[value1, value2, ...]。末尾元素后建议不加逗号，以保证更好的兼容性。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603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2768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多元数据类型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238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数组元素可以是任意合法的 JSON 数据类型。不仅支持数字、字符串等基础类型，还能嵌套包含 JSON 对象或其他数组，这使得它能灵活描述复杂的现实数据结构。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603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2603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2768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有序集合特性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3238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数组是有序的数据列表，元素的先后顺序在序列化和反序列化过程中会被严格保留。这一点与对象不同，在处理需要固定顺序的数据集（如排行榜、日志流）时尤为重要。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10668000" cy="18415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431800"/>
          </a:xfrm>
          <a:prstGeom prst="roundRect">
            <a:avLst>
              <a:gd name="adj" fmla="val 0"/>
            </a:avLst>
          </a:prstGeom>
          <a:solidFill>
            <a:srgbClr val="373D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7244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代码示例：用户信息数据集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207000"/>
            <a:ext cx="4064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在这个示例中，外层是一个数组，内部包含了两个独立的用户对象。每个对象拥有相同的属性结构，这种形式常用于批量传输同类型的数据记录。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61804">
            <a:off x="4762500" y="57975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0555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5588000" y="5207000"/>
            <a:ext cx="5715000" cy="1206500"/>
          </a:xfrm>
          <a:prstGeom prst="roundRect">
            <a:avLst>
              <a:gd name="adj" fmla="val 0"/>
            </a:avLst>
          </a:prstGeom>
          <a:solidFill>
            <a:srgbClr val="1718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715000" y="52705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sz="1200" b="0" i="0" u="none" strike="noStrike">
                <a:solidFill>
                  <a:srgbClr val="ABB2BF"/>
                </a:solidFill>
                <a:latin typeface="Menlo"/>
                <a:ea typeface="Menlo"/>
                <a:cs typeface="Menlo"/>
                <a:sym typeface="Menlo"/>
              </a:rPr>
              <a:t>{ "id": 1001, "username": "zhangsan" },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Menlo"/>
                <a:ea typeface="Menlo"/>
                <a:cs typeface="Menlo"/>
                <a:sym typeface="Menlo"/>
              </a:rPr>
              <a:t>{ "id": 1002, "username": "lisi" }</a:t>
            </a:r>
            <a:r>
              <a:rPr lang="en-US" sz="1200" b="0" i="0" u="none" strike="noStrike">
                <a:solidFill>
                  <a:srgbClr val="C678DD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endParaRPr lang="en-US" sz="1200" b="0" i="0" u="none" strike="noStrike">
              <a:solidFill>
                <a:srgbClr val="C678DD"/>
              </a:solidFill>
              <a:latin typeface="Menlo"/>
              <a:ea typeface="Menlo"/>
              <a:cs typeface="Menlo"/>
              <a:sym typeface="Menl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vs XML：为什么JSON更受欢迎？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6764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语法简洁性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652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JSON：极致简洁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基于键值对结构，去除了所有冗余标签，书写更高效。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908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64748B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6416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XML：相对冗长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416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必须包含开始与结束标签，结构复杂，代码量更大。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19600" y="1524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19600" y="1524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72000" y="16764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数据传输体积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228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JSON：轻量小巧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228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同等数据下体积减少30%-50%，极大节省带宽成本。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484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64748B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992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XML：体积庞大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992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标签占据大量字符空间，网络传输耗时更长。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77200" y="1524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77200" y="1524000"/>
            <a:ext cx="35052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229600" y="16764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机器解析效率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296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804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JSON：极速解析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804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结构扁平化，解析器处理逻辑简单，响应毫秒级。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906000" y="2159000"/>
            <a:ext cx="1549400" cy="1079500"/>
          </a:xfrm>
          <a:prstGeom prst="roundRect">
            <a:avLst>
              <a:gd name="adj" fmla="val 0"/>
            </a:avLst>
          </a:prstGeom>
          <a:solidFill>
            <a:srgbClr val="64748B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956800" y="2197100"/>
            <a:ext cx="1447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XML：相对缓慢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956800" y="2565400"/>
            <a:ext cx="144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需构建复杂DOM树，内存与时间开销显著增加。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36195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3619500"/>
            <a:ext cx="5270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14400" y="3733800"/>
            <a:ext cx="495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开发者可读性体验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4400" y="4191000"/>
            <a:ext cx="2413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65200" y="4229100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JSON：代码级亲和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65200" y="4508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类JS对象的直观结构，开发调试几乎无学习成本，一目了然。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492500" y="4191000"/>
            <a:ext cx="2413000" cy="889000"/>
          </a:xfrm>
          <a:prstGeom prst="roundRect">
            <a:avLst>
              <a:gd name="adj" fmla="val 0"/>
            </a:avLst>
          </a:prstGeom>
          <a:solidFill>
            <a:srgbClr val="64748B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3543300" y="4229100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XML：嵌套易混乱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3543300" y="4508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多层级嵌套标签在数据量大时，极易造成阅读和维护的困难。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3619500"/>
            <a:ext cx="53594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223000" y="3619500"/>
            <a:ext cx="5359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375400" y="3733800"/>
            <a:ext cx="495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行业主流应用方向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375400" y="4191000"/>
            <a:ext cx="2476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426200" y="4229100"/>
            <a:ext cx="2349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JSON：现代开发首选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426200" y="4508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前后端API接口、移动端数据交互、轻量化配置文件的标准。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953500" y="4191000"/>
            <a:ext cx="2476500" cy="889000"/>
          </a:xfrm>
          <a:prstGeom prst="roundRect">
            <a:avLst>
              <a:gd name="adj" fmla="val 0"/>
            </a:avLst>
          </a:prstGeom>
          <a:solidFill>
            <a:srgbClr val="64748B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9004300" y="4229100"/>
            <a:ext cx="2349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XML：传统领域留存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9004300" y="4508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文档描述、早期系统配置、部分企业级服务的遗留协议。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762000" y="5397500"/>
            <a:ext cx="108204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3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1016000" y="55245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核心结论：现代Web开发的效率之选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1016000" y="5905500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高频的数据交换与前后端通信场景中，JSON凭借其轻量、高效、易解析的特性，已成为绝对的主流标准。虽然XML在文档结构描述上仍有不可替代的优势，但对于追求速度与开发体验的现代应用而言，JSON是目前成本最低、适配性最好的技术方案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Java如何读取JSON文件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方式一：基础方式 - 使用 org.json 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498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该库是Java生态中处理JSON的基础工具，提供了最原生的JSON对象与数组操作能力。虽然它不提供自动映射功能，但能帮助我们直观理解数据解析的底层原理，适合初学者作为理解JSON处理机制的入门实践方案。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692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第一步：引入Maven依赖配置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1115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2004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&lt;dependency&gt;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&lt;groupId&gt;org.json&lt;/groupId&gt;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&lt;artifactId&gt;json&lt;/artifactId&gt;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&lt;version&gt;20230227&lt;/version&gt;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&lt;/dependency&gt;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540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2540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2692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第二步：手动解析与数据提取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31115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32004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解析字符串为JSONObject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JSONObject obj = new JSONObject(jsonStr);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手动get方法获取字段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id = obj.getInt("id");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name = obj.getString("username");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System.out.println("ID: " + id + ", User: " + name);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89500"/>
            <a:ext cx="508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054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029200"/>
            <a:ext cx="952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核心局限：开发效率与维护成本的双重挑战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524500"/>
            <a:ext cx="1003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采用该方式需完全手动调用 getXXX() 系列方法处理每一个字段，无任何自动化映射能力。当业务JSON结构嵌套较深或字段繁多时，会产生大量重复的样板代码；同时，硬编码的字段名和类型转换缺乏编译期校验，极易在运行时出现错误，因此在企业级复杂业务开发中通常不作为首选方案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方式二：主流框架 - 使用 Jackson 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 是目前 Java 生态中最流行、功能最强大的 JSON 处理库之一。它能够高效地实现 JSON 字符串与 Java 对象（JavaBean）之间的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自动转换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，不仅极大简化了手动解析的繁琐代码，还提供了丰富的注解和配置项来灵活处理复杂的数据结构，是企业级开发中处理数据序列化与反序列化的首选方案。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引入 Maven 核心依赖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195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683000"/>
            <a:ext cx="463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&lt;dependency&gt;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&lt;groupId&gt;com.fasterxml.jackson.core&lt;/groupId&gt;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&lt;artifactId&gt;jackson-databind&lt;/artifactId&gt;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&lt;version&gt;2.15.2&lt;/version&gt;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&lt;/dependency&gt;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5207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在项目的 pom.xml 配置文件中添加该依赖，即可快速引入 Jackson 的数据绑定模块，这是实现 JSON 与 Java 对象互转的基础组件。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7027">
            <a:off x="4476750" y="4533912"/>
            <a:ext cx="336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286500" y="2857500"/>
            <a:ext cx="52705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285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3048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定义 JavaBean 实体类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6195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3683000"/>
            <a:ext cx="463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 class User {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private int id; private String username; private String email;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必须提供：无参构造方法、Getter 和 Setter 方法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用于 Jackson 反射实例化与属性赋值</a:t>
            </a:r>
            <a:b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207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实体类的属性需与目标 JSON 的字段结构保持一致。注意必须显式定义无参构造方法，以及所有属性的 Getter 和 Setter，这是 Jackson 实现自动映射转换的关键前提。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Jackson实战：JSON -&gt; Java对象 (反序列化)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112000" cy="3556000"/>
          </a:xfrm>
          <a:prstGeom prst="roundRect">
            <a:avLst>
              <a:gd name="adj" fmla="val 0"/>
            </a:avLst>
          </a:prstGeom>
          <a:solidFill>
            <a:srgbClr val="F0F9F5">
              <a:alpha val="9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11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673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核心API: ObjectMapper.readValue() 实现反序列化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jsonStr = "{\"id\": 1001, \"username\": \"zhangsan\", \"isActive\": true}";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try {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初始化Jackson核心引擎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ObjectMapper mapper = new ObjectMapper();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2. 核心操作：JSON字符串 -&gt; Java对象 (User.class为目标类型)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 user = mapper.readValue(jsonStr, User.class);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3. 直接使用对象，无需手动解析字段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System.out.println("解析后的用户名: " + user.getUsername());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System.out.println("用户状态: " + (user.getIsActive() ? "活跃" : "禁用"));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 catch (JsonProcessingException e) {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e.printStackTrace();</a:t>
            </a:r>
            <a:b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0" y="1524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318500" y="165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运行结果输出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18500" y="21590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445500" y="2286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解析后的用户名: zhangsan</a:t>
            </a:r>
            <a:b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用户状态: 活跃</a:t>
            </a:r>
            <a:b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User{id=1001, username='zhangsan',</a:t>
            </a:r>
            <a:b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isActive=true}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18500" y="4064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04785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445500" y="4165600"/>
            <a:ext cx="292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一行代码完成复杂转换，框架自动处理数据类型映射，极大简化了后端数据绑定逻辑。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92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4356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</a:t>
            </a:r>
            <a:b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42709">
            <a:off x="2667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238500" y="5486400"/>
            <a:ext cx="812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ObjectMapper 的反射机制，Jackson 自动将 JSON 中的键值对映射到 Java Bean 的 setter/getter 方法上。开发者只需定义好实体类结构，即可摆脱手动解析的繁琐，实现“配置即所得”的高效开发体验，这也是 Spring Boot 默认采用 Jackson 作为 JSON 处理器的重要原因。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Jackson实战：Java对象 -&gt; JSON字符串 (序列化)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41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5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651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构建业务实体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0955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定义Java Bean并实例化，封装具体的业务数据，如用户ID、用户名、激活状态等业务属性。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30600" y="1524000"/>
            <a:ext cx="2641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65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02100" y="1651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核心对象初始化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0955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 ObjectMapper 核心实例，这是Jackson库的核心引擎，负责所有的序列化与反序列化逻辑。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99200" y="1524000"/>
            <a:ext cx="2641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1600" y="165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70700" y="1651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执行序列化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51600" y="20955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writeValueAsString() 方法，传入待转换的Java对象，框架自动处理数据类型映射。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67800" y="1524000"/>
            <a:ext cx="2641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0200" y="165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639300" y="1651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生成JSON串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20200" y="20955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得到标准的JSON格式字符串，可直接用于网络传输、API响应或持久化存储，格式清晰规范。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429000"/>
            <a:ext cx="6985000" cy="2286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3429000"/>
            <a:ext cx="6985000" cy="330200"/>
          </a:xfrm>
          <a:prstGeom prst="roundRect">
            <a:avLst>
              <a:gd name="adj" fmla="val 0"/>
            </a:avLst>
          </a:prstGeom>
          <a:solidFill>
            <a:srgbClr val="374151">
              <a:alpha val="9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4400" y="3492500"/>
            <a:ext cx="127000" cy="127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143000" y="3492500"/>
            <a:ext cx="127000" cy="12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371600" y="3492500"/>
            <a:ext cx="127000" cy="12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714500" y="34544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JacksonSerializationExample.java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" y="3873500"/>
            <a:ext cx="673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准备数据对象 | 2. 核心转换 | 3. 结果输出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 user = new User(1002, "lisi", "lisi@example.com", false);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ObjectMapper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mapper = new</a:t>
            </a: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ObjectMapper</a:t>
            </a: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2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json = mapper.writeValueAsString(user);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核心API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System.out.println(json);</a:t>
            </a:r>
            <a:r>
              <a:rPr lang="en-US" sz="1200" b="0" i="0" u="none" strike="noStrike">
                <a:solidFill>
                  <a:srgbClr val="5C637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{"id":1002,"username":"lisi",...}</a:t>
            </a:r>
            <a:endParaRPr lang="en-US" sz="1200" b="0" i="0" u="none" strike="noStrike">
              <a:solidFill>
                <a:srgbClr val="5C637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001000" y="3429000"/>
            <a:ext cx="3708400" cy="2286000"/>
          </a:xfrm>
          <a:prstGeom prst="roundRect">
            <a:avLst>
              <a:gd name="adj" fmla="val 0"/>
            </a:avLst>
          </a:prstGeom>
          <a:solidFill>
            <a:srgbClr val="ECFDF5">
              <a:alpha val="92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91500" y="3556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技术核心：反射与映射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91500" y="4064000"/>
            <a:ext cx="336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通过Java反射机制动态解析对象的getter方法，自动将属性名映射为JSON的key，属性值映射为JSON的value。此过程是后端服务与前端进行数据交互的基础，能够高效处理复杂对象结构，无需手动拼接字符串，极大提升开发效率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842000"/>
            <a:ext cx="109474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9436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97000" y="5918200"/>
            <a:ext cx="1003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实战点睛：</a:t>
            </a:r>
            <a:r>
              <a:rPr lang="en-US" sz="13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这是RESTful API开发的标准范式。相比传统的手动拼接，Jackson不仅能保证数据格式的正确性，还支持日期格式化、空值过滤、复杂嵌套对象等高级特性，是企业级应用中实现前后端解耦的首选方案。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685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27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JavaWeb实战案例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传统Servlet处理JSON请求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361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前端页面：构造并发送JSON请求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222500"/>
            <a:ext cx="4635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function sendJson() {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user = { username: "前端用户", pwd: "123456" };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fetch('/api/user', {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method: 'POST',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headers: { 'Content-Type': 'application/json' },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body: JSON.stringify(user)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}).then(res =&gt; res.json()).then(data =&gt; alert(data.msg));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4000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前端需显式声明数据格式为 JSON，通过 Fetch API 将 JavaScript 对象序列化为字符串，放入请求体中发送至后端 Servlet 接口。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87499">
            <a:off x="4413250" y="3263912"/>
            <a:ext cx="349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1397000"/>
            <a:ext cx="5270500" cy="361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1587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Servlet：手动解析与响应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159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67500" y="2222500"/>
            <a:ext cx="4635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1. 读取请求体: BufferedReader reader = req.getReader();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2. 反序列化: User user = objectMapper.readValue(jsonStr, User.class);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3. 业务处理: String msg = "用户 " + user.getUsername() + " 注册成功";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4. 响应: resp.setContentType("application/json");</a:t>
            </a:r>
            <a:b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objectMapper.writeValue(resp.getWriter(), new Result(true, msg));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3937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67500" y="40005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后端开发需手写大量样板代码：手动读取 IO 流、利用第三方库（如 Jackson）进行数据绑定，处理完业务逻辑后再将结果转为 JSON 写回响应。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85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635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3721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372100"/>
            <a:ext cx="165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2709">
            <a:off x="2857500" y="5772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429000" y="5372100"/>
            <a:ext cx="787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 Servlet 开发模式下，开发者需要关注底层 IO 流操作、手动处理异常和数据格式转换。这种方式不仅代码冗余度高，还容易因格式不匹配导致解析失败，大幅降低了开发效率和系统的可维护性。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场景二：Spring Boot处理JSON请求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内置了成熟的 Jackson 序列化/反序列化机制，通过自动配置消除了繁琐的配置工作。开发者只需简单的注解，即可实现前端JSON数据到后端Java对象的自动绑定，让数据交互变得直观且高效。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10668000" cy="2222500"/>
          </a:xfrm>
          <a:prstGeom prst="roundRect">
            <a:avLst>
              <a:gd name="adj" fmla="val 0"/>
            </a:avLst>
          </a:prstGeom>
          <a:solidFill>
            <a:srgbClr val="1F2937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10668000" cy="3556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565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UserController.java | 核心业务处理逻辑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84500"/>
            <a:ext cx="1028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@RestController // 替代 @Controller + @ResponseBody，直接返回数据体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 class UserController {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@PostMapping("/api/user")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 ResponseResult register(@RequestBody User user) { // 自动映射JSON请求体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业务逻辑：直接使用转换后的User对象，无需手动解析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System.out.println("用户信息: " + user.getUsername());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直接返回对象，框架自动转为JSON响应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 new ResponseResult(true, "用户 " + user.getUsername() + " 注册成功！");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50292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自动序列化与反序列化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461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0FDF4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无需编写一行解析代码，@RequestBody 自动将JSON转为Java Bean；返回对象时，框架自动将其序列化为JSON格式，极大降低了前后端数据交互的复杂度。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59500" y="4953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37415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50292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聚焦业务逻辑实现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5461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摆脱了传统开发中大量的样板代码和配置工作，让开发者能够从繁琐的技术细节中抽离出来，将核心精力投入到业务规则制定和功能实现上，提升开发敏捷性。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进阶技巧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字段名映射：@JsonProperty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当JSON键名（如 user_name）与Java属性名（如 userName）命名风格不一致时，通过注解显式指定映射关系，是解决数据解析不匹配最直接的方案。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0734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public class User {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private int id;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// 显式指定JSON中的键名为 "user_name"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@JsonProperty("user_name")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private String userName; // Java中使用驼峰命名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// Getter &amp; Setter ...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397000"/>
            <a:ext cx="5270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39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587500"/>
            <a:ext cx="488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稳健解析：异常处理机制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0955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网络数据格式不可控，空值、类型错误等情况极易导致解析崩溃。在生产环境中，必须通过 try-catch 捕获核心异常，保障服务的高可用性。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84500"/>
            <a:ext cx="4889500" cy="14605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30734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try {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User user = objectMapper.readValue(jsonStr, User.class);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} catch (JsonProcessingException e) {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System.err.println("解析失败: " + e.getMessage());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// 此处可返回标准化的错误响应给前端</a:t>
            </a:r>
            <a:b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795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016500"/>
            <a:ext cx="825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开发提效：忽略JSON未知字段配置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486400"/>
            <a:ext cx="577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服务端返回的JSON数据可能包含冗余字段，若严格校验会导致客户端解析失败。通过简单的配置即可忽略这些未定义的属性，大幅减少因接口字段变动引发的兼容性问题。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42709">
            <a:off x="65405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112000" y="5486400"/>
            <a:ext cx="42545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239000" y="55499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11827"/>
                </a:solidFill>
                <a:latin typeface="Menlo"/>
                <a:ea typeface="Menlo"/>
                <a:cs typeface="Menlo"/>
                <a:sym typeface="Menlo"/>
              </a:rPr>
              <a:t>objectMapper.configure(</a:t>
            </a:r>
            <a:br>
              <a:rPr lang="en-US" sz="1200" b="0" i="0" u="none" strike="noStrike">
                <a:solidFill>
                  <a:srgbClr val="111827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111827"/>
                </a:solidFill>
                <a:latin typeface="Menlo"/>
                <a:ea typeface="Menlo"/>
                <a:cs typeface="Menlo"/>
                <a:sym typeface="Menlo"/>
              </a:rPr>
              <a:t>DeserializationFeature.FAIL_ON_UNKNOWN_PROPERTIES, false</a:t>
            </a:r>
            <a:br>
              <a:rPr lang="en-US" sz="1200" b="0" i="0" u="none" strike="noStrike">
                <a:solidFill>
                  <a:srgbClr val="111827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sz="1200" b="0" i="0" u="none" strike="noStrike">
                <a:solidFill>
                  <a:srgbClr val="111827"/>
                </a:solidFill>
                <a:latin typeface="Menlo"/>
                <a:ea typeface="Menlo"/>
                <a:cs typeface="Menlo"/>
                <a:sym typeface="Menlo"/>
              </a:rPr>
              <a:t>);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实用在线工具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279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BeJSON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https://bejson.org/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的JSON一站式处理平台，集成了格式化、校验、压缩、转义等全场景功能。支持代码高亮与错误自动定位，能直观展示数据层级。无论是后端接口调试，还是前端数据解析，都能帮助开发者快速发现问题，大幅降低人工处理的时间成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76200" cy="279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651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JSON.cn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22250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https://www.json.cn/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7940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在线解析工具，主打极简交互与极速响应。无需繁琐操作，粘贴代码即可瞬间完成格式化美化，结构清晰易读。无注册、无广告、即开即用的特性，使其成为日常开发中“快速看数”的首选工具，尤其适合移动端临时调试或快速验证数据结构的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76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开发调试的高效“翻译官”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334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压缩后的复杂JSON字符串，人工阅读不仅效率低还容易出错。这两款工具通过智能的格式化排版与语法校验，将晦涩的代码转化为清晰的层级结构。无论是排查接口数据问题，还是与后端联调，它们都是开发者手中不可或缺的实用利器，能显著提升日常工作的效率与准确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Web开发的通用语言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是一种轻量级、完全独立于编程语言的文本格式。它摒弃了复杂的格式约定，成为现代前后端分离架构中数据传输与交换的事实标准，是连接业务逻辑与用户界面的关键桥梁。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极简的核心结构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286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一切数据的组织都基于两个基础：</a:t>
            </a:r>
            <a:r>
              <a:rPr lang="en-US" sz="1300" b="1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 {}</a:t>
            </a: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用于表示键值对集合，</a:t>
            </a:r>
            <a:r>
              <a:rPr lang="en-US" sz="1300" b="1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 []</a:t>
            </a: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用于表示有序值列表。这种简单的结构使得数据解析高效且易于人类阅读，同时也便于机器生成和解析。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524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185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Jackson 的魔力转换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286000"/>
            <a:ext cx="3111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Java 生态中，Jackson 是处理 JSON 的首选库。它提供了强大的序列化与反序列化能力，能够自动处理复杂的对象关系，将 Java Bean 与 JSON 字符串无缝互转，大幅减少了手动解析的繁琐代码。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00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005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191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简化开发流程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7625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 Servlet 时代手动读取 InputStream 解析请求体的痛苦。在 Spring Boot 中，只需一个</a:t>
            </a:r>
            <a:r>
              <a:rPr lang="en-US" sz="1300" b="1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@RequestBody</a:t>
            </a: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注解，框架即可自动完成 HTTP 请求体到目标 Java 对象的绑定，让开发者能更专注于业务逻辑的实现，而非底层数据的获取。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000500"/>
            <a:ext cx="5397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000500"/>
            <a:ext cx="5397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5016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编写生产级健壮代码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762500"/>
            <a:ext cx="501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</a:t>
            </a:r>
            <a:r>
              <a:rPr lang="en-US" sz="1300" b="1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@JsonProperty</a:t>
            </a:r>
            <a:r>
              <a:rPr lang="en-US" sz="13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注解来灵活处理字段映射（如驼峰与下划线转换）是第一步。更重要的是建立完善的异常处理机制，优雅应对解析失败、字段缺失等边界情况，这是构建高可用、易维护的企业级 JSON 接口的关键所在。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10000"/>
                </a:srgbClr>
              </a:gs>
              <a:gs pos="100000">
                <a:srgbClr val="000000">
                  <a:alpha val="6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9644</Words>
  <Application>WPS 演示</Application>
  <PresentationFormat/>
  <Paragraphs>415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Menlo</vt:lpstr>
      <vt:lpstr>Segoe Print</vt:lpstr>
      <vt:lpstr>Consolas</vt:lpstr>
      <vt:lpstr>微软雅黑</vt:lpstr>
      <vt:lpstr>Arial Unicode MS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北城南笙(눈_눈)</cp:lastModifiedBy>
  <cp:revision>2</cp:revision>
  <dcterms:created xsi:type="dcterms:W3CDTF">2026-05-31T10:02:00Z</dcterms:created>
  <dcterms:modified xsi:type="dcterms:W3CDTF">2026-05-31T12:26:43Z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{"Label":"1","ContentProducer":"001191110102MACQD9K64010000","ProduceID":"7645991192747985863","ReservedCode1":"","ContentPropagator":"","PropagateID":"","ReservedCode2":""}</vt:lpwstr>
  </property>
  <property fmtid="{D5CDD505-2E9C-101B-9397-08002B2CF9AE}" pid="3" name="ICV">
    <vt:lpwstr>922C248E3F244959BFCFAECF5F60D7E2_13</vt:lpwstr>
  </property>
  <property fmtid="{D5CDD505-2E9C-101B-9397-08002B2CF9AE}" pid="4" name="KSOProductBuildVer">
    <vt:lpwstr>2052-12.1.0.26375</vt:lpwstr>
  </property>
</Properties>
</file>